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ri sailaja" userId="9c9a6b663f163596" providerId="LiveId" clId="{05268B20-8A56-4B5C-83A5-C61891D87DD8}"/>
    <pc:docChg chg="modSld">
      <pc:chgData name="siri sailaja" userId="9c9a6b663f163596" providerId="LiveId" clId="{05268B20-8A56-4B5C-83A5-C61891D87DD8}" dt="2026-07-03T09:30:36.886" v="631" actId="255"/>
      <pc:docMkLst>
        <pc:docMk/>
      </pc:docMkLst>
      <pc:sldChg chg="modSp mod">
        <pc:chgData name="siri sailaja" userId="9c9a6b663f163596" providerId="LiveId" clId="{05268B20-8A56-4B5C-83A5-C61891D87DD8}" dt="2026-06-20T07:50:57.243" v="328" actId="255"/>
        <pc:sldMkLst>
          <pc:docMk/>
          <pc:sldMk cId="0" sldId="256"/>
        </pc:sldMkLst>
        <pc:spChg chg="mod">
          <ac:chgData name="siri sailaja" userId="9c9a6b663f163596" providerId="LiveId" clId="{05268B20-8A56-4B5C-83A5-C61891D87DD8}" dt="2026-06-20T07:50:57.243" v="328" actId="255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0T07:45:24.895" v="259" actId="20577"/>
        <pc:sldMkLst>
          <pc:docMk/>
          <pc:sldMk cId="0" sldId="257"/>
        </pc:sldMkLst>
        <pc:spChg chg="mod">
          <ac:chgData name="siri sailaja" userId="9c9a6b663f163596" providerId="LiveId" clId="{05268B20-8A56-4B5C-83A5-C61891D87DD8}" dt="2026-06-20T07:45:24.895" v="259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0T07:45:11.468" v="235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0T07:49:36.136" v="312" actId="255"/>
        <pc:sldMkLst>
          <pc:docMk/>
          <pc:sldMk cId="0" sldId="258"/>
        </pc:sldMkLst>
        <pc:spChg chg="mod">
          <ac:chgData name="siri sailaja" userId="9c9a6b663f163596" providerId="LiveId" clId="{05268B20-8A56-4B5C-83A5-C61891D87DD8}" dt="2026-06-20T07:49:36.136" v="312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0T07:48:36.847" v="307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0T07:50:26.072" v="327" actId="20577"/>
        <pc:sldMkLst>
          <pc:docMk/>
          <pc:sldMk cId="0" sldId="259"/>
        </pc:sldMkLst>
        <pc:spChg chg="mod">
          <ac:chgData name="siri sailaja" userId="9c9a6b663f163596" providerId="LiveId" clId="{05268B20-8A56-4B5C-83A5-C61891D87DD8}" dt="2026-06-20T07:50:26.072" v="327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0T07:50:05.618" v="314" actId="255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0T14:32:49.068" v="362" actId="20577"/>
        <pc:sldMkLst>
          <pc:docMk/>
          <pc:sldMk cId="0" sldId="260"/>
        </pc:sldMkLst>
        <pc:spChg chg="mod">
          <ac:chgData name="siri sailaja" userId="9c9a6b663f163596" providerId="LiveId" clId="{05268B20-8A56-4B5C-83A5-C61891D87DD8}" dt="2026-06-20T14:32:04.069" v="357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0T14:32:49.068" v="362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0T14:34:23.988" v="394" actId="255"/>
        <pc:sldMkLst>
          <pc:docMk/>
          <pc:sldMk cId="0" sldId="261"/>
        </pc:sldMkLst>
        <pc:spChg chg="mod">
          <ac:chgData name="siri sailaja" userId="9c9a6b663f163596" providerId="LiveId" clId="{05268B20-8A56-4B5C-83A5-C61891D87DD8}" dt="2026-06-20T14:33:11.274" v="388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0T14:34:23.988" v="394" actId="255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0T14:36:08.964" v="424" actId="20577"/>
        <pc:sldMkLst>
          <pc:docMk/>
          <pc:sldMk cId="0" sldId="262"/>
        </pc:sldMkLst>
        <pc:spChg chg="mod">
          <ac:chgData name="siri sailaja" userId="9c9a6b663f163596" providerId="LiveId" clId="{05268B20-8A56-4B5C-83A5-C61891D87DD8}" dt="2026-06-20T14:36:08.964" v="424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0T14:35:50.902" v="400" actId="25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0T14:37:38.196" v="468" actId="20577"/>
        <pc:sldMkLst>
          <pc:docMk/>
          <pc:sldMk cId="0" sldId="263"/>
        </pc:sldMkLst>
        <pc:spChg chg="mod">
          <ac:chgData name="siri sailaja" userId="9c9a6b663f163596" providerId="LiveId" clId="{05268B20-8A56-4B5C-83A5-C61891D87DD8}" dt="2026-06-20T14:36:24.573" v="459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0T14:37:38.196" v="468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0T14:39:10.762" v="514" actId="255"/>
        <pc:sldMkLst>
          <pc:docMk/>
          <pc:sldMk cId="0" sldId="264"/>
        </pc:sldMkLst>
        <pc:spChg chg="mod">
          <ac:chgData name="siri sailaja" userId="9c9a6b663f163596" providerId="LiveId" clId="{05268B20-8A56-4B5C-83A5-C61891D87DD8}" dt="2026-06-20T14:38:02.509" v="507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0T14:39:10.762" v="514" actId="255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0T14:40:08.134" v="543" actId="255"/>
        <pc:sldMkLst>
          <pc:docMk/>
          <pc:sldMk cId="0" sldId="265"/>
        </pc:sldMkLst>
        <pc:spChg chg="mod">
          <ac:chgData name="siri sailaja" userId="9c9a6b663f163596" providerId="LiveId" clId="{05268B20-8A56-4B5C-83A5-C61891D87DD8}" dt="2026-06-20T14:39:47.135" v="541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0T14:40:08.134" v="543" actId="255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2T13:57:50.516" v="568" actId="20577"/>
        <pc:sldMkLst>
          <pc:docMk/>
          <pc:sldMk cId="0" sldId="266"/>
        </pc:sldMkLst>
        <pc:spChg chg="mod">
          <ac:chgData name="siri sailaja" userId="9c9a6b663f163596" providerId="LiveId" clId="{05268B20-8A56-4B5C-83A5-C61891D87DD8}" dt="2026-06-22T13:57:50.516" v="568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2T13:57:39.493" v="545" actId="255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2T13:58:23.348" v="593" actId="20577"/>
        <pc:sldMkLst>
          <pc:docMk/>
          <pc:sldMk cId="0" sldId="267"/>
        </pc:sldMkLst>
        <pc:spChg chg="mod">
          <ac:chgData name="siri sailaja" userId="9c9a6b663f163596" providerId="LiveId" clId="{05268B20-8A56-4B5C-83A5-C61891D87DD8}" dt="2026-06-22T13:58:23.348" v="593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2T13:58:12.487" v="571" actId="255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2T13:59:10.591" v="616" actId="20577"/>
        <pc:sldMkLst>
          <pc:docMk/>
          <pc:sldMk cId="0" sldId="268"/>
        </pc:sldMkLst>
        <pc:spChg chg="mod">
          <ac:chgData name="siri sailaja" userId="9c9a6b663f163596" providerId="LiveId" clId="{05268B20-8A56-4B5C-83A5-C61891D87DD8}" dt="2026-06-22T13:59:10.591" v="616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2T13:58:59.899" v="597" actId="255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2T13:59:37.777" v="618" actId="255"/>
        <pc:sldMkLst>
          <pc:docMk/>
          <pc:sldMk cId="0" sldId="269"/>
        </pc:sldMkLst>
        <pc:spChg chg="mod">
          <ac:chgData name="siri sailaja" userId="9c9a6b663f163596" providerId="LiveId" clId="{05268B20-8A56-4B5C-83A5-C61891D87DD8}" dt="2026-06-22T13:59:37.777" v="618" actId="255"/>
          <ac:spMkLst>
            <pc:docMk/>
            <pc:sldMk cId="0" sldId="269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2T13:59:32.304" v="617" actId="255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2T13:59:52.785" v="620" actId="255"/>
        <pc:sldMkLst>
          <pc:docMk/>
          <pc:sldMk cId="0" sldId="270"/>
        </pc:sldMkLst>
        <pc:spChg chg="mod">
          <ac:chgData name="siri sailaja" userId="9c9a6b663f163596" providerId="LiveId" clId="{05268B20-8A56-4B5C-83A5-C61891D87DD8}" dt="2026-06-22T13:59:52.785" v="620" actId="255"/>
          <ac:spMkLst>
            <pc:docMk/>
            <pc:sldMk cId="0" sldId="270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2T13:59:47.704" v="619" actId="255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2T14:00:10.282" v="622" actId="255"/>
        <pc:sldMkLst>
          <pc:docMk/>
          <pc:sldMk cId="0" sldId="271"/>
        </pc:sldMkLst>
        <pc:spChg chg="mod">
          <ac:chgData name="siri sailaja" userId="9c9a6b663f163596" providerId="LiveId" clId="{05268B20-8A56-4B5C-83A5-C61891D87DD8}" dt="2026-06-22T14:00:10.282" v="622" actId="255"/>
          <ac:spMkLst>
            <pc:docMk/>
            <pc:sldMk cId="0" sldId="271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2T14:00:04.451" v="621" actId="255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2T14:00:43.416" v="624" actId="255"/>
        <pc:sldMkLst>
          <pc:docMk/>
          <pc:sldMk cId="0" sldId="272"/>
        </pc:sldMkLst>
        <pc:spChg chg="mod">
          <ac:chgData name="siri sailaja" userId="9c9a6b663f163596" providerId="LiveId" clId="{05268B20-8A56-4B5C-83A5-C61891D87DD8}" dt="2026-06-22T14:00:43.416" v="624" actId="255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6-22T14:01:12.862" v="626" actId="255"/>
        <pc:sldMkLst>
          <pc:docMk/>
          <pc:sldMk cId="0" sldId="273"/>
        </pc:sldMkLst>
        <pc:spChg chg="mod">
          <ac:chgData name="siri sailaja" userId="9c9a6b663f163596" providerId="LiveId" clId="{05268B20-8A56-4B5C-83A5-C61891D87DD8}" dt="2026-06-22T14:01:12.862" v="626" actId="255"/>
          <ac:spMkLst>
            <pc:docMk/>
            <pc:sldMk cId="0" sldId="273"/>
            <ac:spMk id="2" creationId="{00000000-0000-0000-0000-000000000000}"/>
          </ac:spMkLst>
        </pc:spChg>
        <pc:spChg chg="mod">
          <ac:chgData name="siri sailaja" userId="9c9a6b663f163596" providerId="LiveId" clId="{05268B20-8A56-4B5C-83A5-C61891D87DD8}" dt="2026-06-22T14:01:07.795" v="625" actId="255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7-03T09:30:36.886" v="631" actId="255"/>
        <pc:sldMkLst>
          <pc:docMk/>
          <pc:sldMk cId="0" sldId="274"/>
        </pc:sldMkLst>
        <pc:spChg chg="mod">
          <ac:chgData name="siri sailaja" userId="9c9a6b663f163596" providerId="LiveId" clId="{05268B20-8A56-4B5C-83A5-C61891D87DD8}" dt="2026-07-03T09:30:36.886" v="631" actId="255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7-03T09:30:28.589" v="630" actId="255"/>
        <pc:sldMkLst>
          <pc:docMk/>
          <pc:sldMk cId="0" sldId="275"/>
        </pc:sldMkLst>
        <pc:spChg chg="mod">
          <ac:chgData name="siri sailaja" userId="9c9a6b663f163596" providerId="LiveId" clId="{05268B20-8A56-4B5C-83A5-C61891D87DD8}" dt="2026-07-03T09:30:28.589" v="630" actId="255"/>
          <ac:spMkLst>
            <pc:docMk/>
            <pc:sldMk cId="0" sldId="275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7-03T09:30:15.433" v="628" actId="255"/>
        <pc:sldMkLst>
          <pc:docMk/>
          <pc:sldMk cId="0" sldId="276"/>
        </pc:sldMkLst>
        <pc:spChg chg="mod">
          <ac:chgData name="siri sailaja" userId="9c9a6b663f163596" providerId="LiveId" clId="{05268B20-8A56-4B5C-83A5-C61891D87DD8}" dt="2026-07-03T09:30:15.433" v="628" actId="255"/>
          <ac:spMkLst>
            <pc:docMk/>
            <pc:sldMk cId="0" sldId="276"/>
            <ac:spMk id="3" creationId="{00000000-0000-0000-0000-000000000000}"/>
          </ac:spMkLst>
        </pc:spChg>
      </pc:sldChg>
      <pc:sldChg chg="modSp mod">
        <pc:chgData name="siri sailaja" userId="9c9a6b663f163596" providerId="LiveId" clId="{05268B20-8A56-4B5C-83A5-C61891D87DD8}" dt="2026-07-03T09:30:06.708" v="627" actId="255"/>
        <pc:sldMkLst>
          <pc:docMk/>
          <pc:sldMk cId="0" sldId="277"/>
        </pc:sldMkLst>
        <pc:spChg chg="mod">
          <ac:chgData name="siri sailaja" userId="9c9a6b663f163596" providerId="LiveId" clId="{05268B20-8A56-4B5C-83A5-C61891D87DD8}" dt="2026-07-03T09:30:06.708" v="627" actId="255"/>
          <ac:spMkLst>
            <pc:docMk/>
            <pc:sldMk cId="0" sldId="27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4123" y="422787"/>
            <a:ext cx="10817352" cy="5488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 sz="5600" b="1">
                <a:solidFill>
                  <a:srgbClr val="8B5CF6"/>
                </a:solidFill>
                <a:latin typeface="Arial"/>
              </a:defRPr>
            </a:pPr>
            <a:r>
              <a:rPr lang="en-IN" sz="6000" dirty="0"/>
              <a:t>       AI-power Resume </a:t>
            </a:r>
            <a:endParaRPr sz="6000" dirty="0"/>
          </a:p>
          <a:p>
            <a:pPr>
              <a:spcAft>
                <a:spcPts val="2400"/>
              </a:spcAft>
              <a:defRPr sz="2200" b="1">
                <a:solidFill>
                  <a:srgbClr val="F3F4F6"/>
                </a:solidFill>
                <a:latin typeface="Arial"/>
              </a:defRPr>
            </a:pPr>
            <a:r>
              <a:rPr dirty="0"/>
              <a:t>Machine Learning Candidate Profiling &amp; Resume Screening Platform</a:t>
            </a:r>
          </a:p>
          <a:p>
            <a:pPr>
              <a:spcAft>
                <a:spcPts val="14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rPr sz="2000" dirty="0"/>
              <a:t>COMPREHENSIVE PROJECT DOCUMENTATION &amp; TECHNICAL REPORT</a:t>
            </a:r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rPr sz="3200" b="1" u="sng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Developed by Team</a:t>
            </a:r>
            <a:r>
              <a:rPr dirty="0"/>
              <a:t>:</a:t>
            </a:r>
            <a:endParaRPr lang="en-IN" dirty="0"/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br>
              <a:rPr dirty="0"/>
            </a:br>
            <a:r>
              <a:rPr sz="2400" dirty="0"/>
              <a:t>• </a:t>
            </a:r>
            <a:r>
              <a:rPr lang="en-IN" sz="2400" dirty="0"/>
              <a:t>G Siri Sailaja </a:t>
            </a:r>
            <a:r>
              <a:rPr sz="2400" dirty="0"/>
              <a:t> </a:t>
            </a:r>
            <a:r>
              <a:rPr lang="en-IN" sz="2400" dirty="0"/>
              <a:t>(24221A6118)</a:t>
            </a:r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endParaRPr lang="en-IN" sz="2400" dirty="0"/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rPr sz="2400" dirty="0"/>
              <a:t>• </a:t>
            </a:r>
            <a:r>
              <a:rPr lang="en-IN" sz="2400" dirty="0"/>
              <a:t>G Gayathri</a:t>
            </a:r>
            <a:r>
              <a:rPr sz="2400" dirty="0"/>
              <a:t> </a:t>
            </a:r>
            <a:r>
              <a:rPr lang="en-IN" sz="2400" dirty="0"/>
              <a:t> </a:t>
            </a:r>
            <a:r>
              <a:rPr sz="2400" dirty="0"/>
              <a:t>(</a:t>
            </a:r>
            <a:r>
              <a:rPr lang="en-IN" sz="2400" dirty="0"/>
              <a:t>24221A4214</a:t>
            </a:r>
            <a:r>
              <a:rPr sz="2400" dirty="0"/>
              <a:t>) </a:t>
            </a:r>
            <a:endParaRPr lang="en-IN" sz="2400" dirty="0"/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rPr sz="2400" dirty="0"/>
              <a:t>  </a:t>
            </a:r>
            <a:endParaRPr lang="en-IN" sz="2400" dirty="0"/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rPr sz="2400" dirty="0"/>
              <a:t>• </a:t>
            </a:r>
            <a:r>
              <a:rPr lang="en-IN" sz="2400" dirty="0"/>
              <a:t>Ch Varshini</a:t>
            </a:r>
            <a:r>
              <a:rPr sz="2400" dirty="0"/>
              <a:t>(</a:t>
            </a:r>
            <a:r>
              <a:rPr lang="en-IN" sz="2400" dirty="0"/>
              <a:t>24221A6113</a:t>
            </a:r>
            <a:r>
              <a:rPr sz="2400" dirty="0"/>
              <a:t>) </a:t>
            </a:r>
            <a:endParaRPr lang="en-IN" sz="2400" dirty="0"/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rPr sz="2400" dirty="0"/>
              <a:t>  </a:t>
            </a:r>
            <a:endParaRPr lang="en-IN" sz="2400" dirty="0"/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rPr sz="2400" dirty="0"/>
              <a:t>• </a:t>
            </a:r>
            <a:r>
              <a:rPr lang="en-IN" sz="2400" dirty="0"/>
              <a:t>Ch Mounika  (24221A6112</a:t>
            </a:r>
            <a:r>
              <a:rPr sz="2400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231059"/>
            <a:ext cx="10817352" cy="6001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lang="en-IN" sz="3600" dirty="0"/>
              <a:t>                       </a:t>
            </a:r>
            <a:r>
              <a:rPr sz="3600" dirty="0"/>
              <a:t>Project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911288"/>
            <a:ext cx="10817352" cy="5981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 dirty="0">
                <a:solidFill>
                  <a:srgbClr val="10B981"/>
                </a:solidFill>
                <a:latin typeface="Arial"/>
              </a:rPr>
              <a:t>The Recruitment Challenge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Manual screening is slow, inconsistent, and highly vulnerable to human fatigue during high-volume hiring phases.</a:t>
            </a:r>
          </a:p>
          <a:p>
            <a:pPr>
              <a:spcAft>
                <a:spcPts val="800"/>
              </a:spcAft>
            </a:pPr>
            <a:r>
              <a:rPr sz="3200" b="1" dirty="0" err="1">
                <a:solidFill>
                  <a:srgbClr val="10B981"/>
                </a:solidFill>
                <a:latin typeface="Arial"/>
              </a:rPr>
              <a:t>SieveAI</a:t>
            </a:r>
            <a:r>
              <a:rPr sz="3200" b="1" dirty="0">
                <a:solidFill>
                  <a:srgbClr val="10B981"/>
                </a:solidFill>
                <a:latin typeface="Arial"/>
              </a:rPr>
              <a:t> Solution</a:t>
            </a:r>
          </a:p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F3F4F6"/>
                </a:solidFill>
                <a:latin typeface="Arial"/>
              </a:rPr>
              <a:t>SieveAI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 replaces manual filtering with a local, secure machine learning pipeline utilizing a Decision Tree classifier model.</a:t>
            </a:r>
          </a:p>
          <a:p>
            <a:pPr>
              <a:spcAft>
                <a:spcPts val="800"/>
              </a:spcAft>
            </a:pPr>
            <a:r>
              <a:rPr sz="3200" b="1" dirty="0">
                <a:solidFill>
                  <a:srgbClr val="10B981"/>
                </a:solidFill>
                <a:latin typeface="Arial"/>
              </a:rPr>
              <a:t>Key Capabilities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Fully Local Execution: Preserves candidate data privacy without transmitting files to external web APIs.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High Accuracy: Model scores 100% on evaluation metrics over balanced historical candidate attributes.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Elegant UI: Real-time 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glassmorphic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 dashboard showcasing radial matching gauges and metrics comparisons</a:t>
            </a:r>
            <a:r>
              <a:rPr sz="1400" b="0" dirty="0">
                <a:solidFill>
                  <a:srgbClr val="F3F4F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0642"/>
            <a:ext cx="10817352" cy="661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lang="en-IN" sz="4000" dirty="0">
                <a:solidFill>
                  <a:schemeClr val="bg2"/>
                </a:solidFill>
              </a:rPr>
              <a:t>                         </a:t>
            </a:r>
            <a:r>
              <a:rPr sz="4000" dirty="0">
                <a:solidFill>
                  <a:schemeClr val="bg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2772" y="1634972"/>
            <a:ext cx="11523407" cy="4113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 dirty="0">
                <a:solidFill>
                  <a:srgbClr val="8B5CF6"/>
                </a:solidFill>
                <a:latin typeface="Arial"/>
              </a:rPr>
              <a:t>What is Resume Screening?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The initial gatekeeper of hiring, determining whether an applicant moves forward to interviews.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Large enterprises receive hundreds of resumes per job post, leading to administrative backlog.</a:t>
            </a:r>
          </a:p>
          <a:p>
            <a:pPr>
              <a:spcAft>
                <a:spcPts val="800"/>
              </a:spcAft>
            </a:pPr>
            <a:r>
              <a:rPr sz="2800" b="1" dirty="0">
                <a:solidFill>
                  <a:srgbClr val="8B5CF6"/>
                </a:solidFill>
                <a:latin typeface="Arial"/>
              </a:rPr>
              <a:t>Why Traditional Methods Fail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Recruiter Fatigue: Evaluating applications sequentially leads to subjective, varying judgments.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Time </a:t>
            </a:r>
            <a:r>
              <a:rPr sz="2000" b="0" dirty="0" err="1">
                <a:solidFill>
                  <a:srgbClr val="F3F4F6"/>
                </a:solidFill>
                <a:latin typeface="Arial"/>
              </a:rPr>
              <a:t>Bottenecks</a:t>
            </a:r>
            <a:r>
              <a:rPr sz="2000" b="0" dirty="0">
                <a:solidFill>
                  <a:srgbClr val="F3F4F6"/>
                </a:solidFill>
                <a:latin typeface="Arial"/>
              </a:rPr>
              <a:t>: Important positions remain unfilled, slowing down corporate project velocity.</a:t>
            </a:r>
          </a:p>
          <a:p>
            <a:pPr>
              <a:spcAft>
                <a:spcPts val="800"/>
              </a:spcAft>
            </a:pPr>
            <a:r>
              <a:rPr sz="2800" b="1" dirty="0">
                <a:solidFill>
                  <a:srgbClr val="8B5CF6"/>
                </a:solidFill>
                <a:latin typeface="Arial"/>
              </a:rPr>
              <a:t>The Machine Learning Paradigm Shift</a:t>
            </a:r>
            <a:endParaRPr lang="en-IN" sz="2800" b="1" dirty="0">
              <a:solidFill>
                <a:srgbClr val="8B5CF6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Translates qualitative human evaluation profiles into standardized classification decisions.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Instantly filters candidates using supervised algorithms matching company benchmarks</a:t>
            </a:r>
            <a:r>
              <a:rPr sz="1400" b="0" dirty="0">
                <a:solidFill>
                  <a:srgbClr val="F3F4F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661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lang="en-IN" sz="4000" dirty="0"/>
              <a:t>           </a:t>
            </a:r>
            <a:r>
              <a:rPr sz="4000" dirty="0"/>
              <a:t>Purpose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7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 dirty="0">
                <a:solidFill>
                  <a:srgbClr val="10B981"/>
                </a:solidFill>
                <a:latin typeface="Arial"/>
              </a:rPr>
              <a:t>Primary Objectives &amp; Benefits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Candidate Suitability Automation: Fast-track top applicants based on standardized metrics.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Privacy-First Engineering: Keep all personal data local. No cloud database dependencies.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Subjectivity Bias Mitigation: Rely on logical rules to rank skills, education, and certificates.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Budget Management: Check salary expectations early to optimize recruiter scheduling.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Recruiter Decision Support: Present candidate profiles alongside database averages.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6001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lang="en-IN" sz="3600" dirty="0"/>
              <a:t>                          </a:t>
            </a:r>
            <a:r>
              <a:rPr sz="3600" dirty="0"/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53613"/>
            <a:ext cx="1081735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 dirty="0" err="1">
                <a:solidFill>
                  <a:srgbClr val="8B5CF6"/>
                </a:solidFill>
                <a:latin typeface="Arial"/>
              </a:rPr>
              <a:t>SieveAI</a:t>
            </a:r>
            <a:r>
              <a:rPr sz="2800" b="1" dirty="0">
                <a:solidFill>
                  <a:srgbClr val="8B5CF6"/>
                </a:solidFill>
                <a:latin typeface="Arial"/>
              </a:rPr>
              <a:t> Architecture Elements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1. Frontend Console: </a:t>
            </a:r>
            <a:r>
              <a:rPr sz="2000" b="0" dirty="0" err="1">
                <a:solidFill>
                  <a:srgbClr val="F3F4F6"/>
                </a:solidFill>
                <a:latin typeface="Arial"/>
              </a:rPr>
              <a:t>Glassmorphic</a:t>
            </a:r>
            <a:r>
              <a:rPr sz="2000" b="0" dirty="0">
                <a:solidFill>
                  <a:srgbClr val="F3F4F6"/>
                </a:solidFill>
                <a:latin typeface="Arial"/>
              </a:rPr>
              <a:t> web dashboard providing user presets, custom field forms, simulated resume scanning animations, and responsive gauge updates.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2. Python Flask Server: A lightweight, local web server facilitating API routes, input casting, and candidate data parsing heuristics.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3. ML Preprocessing &amp; Predictors: Numerical scale pipelines and one-hot text encoders connected to a decision tree classifier</a:t>
            </a:r>
            <a:r>
              <a:rPr sz="1400" b="0" dirty="0">
                <a:solidFill>
                  <a:srgbClr val="F3F4F6"/>
                </a:solidFill>
                <a:latin typeface="Arial"/>
              </a:rPr>
              <a:t>.</a:t>
            </a:r>
            <a:endParaRPr lang="en-IN" sz="1400" b="0" dirty="0">
              <a:solidFill>
                <a:srgbClr val="F3F4F6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endParaRPr sz="1400" b="0" dirty="0">
              <a:solidFill>
                <a:srgbClr val="F3F4F6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800" b="1" dirty="0">
                <a:solidFill>
                  <a:srgbClr val="8B5CF6"/>
                </a:solidFill>
                <a:latin typeface="Arial"/>
              </a:rPr>
              <a:t>System Workflow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Candidate Profile -&gt; Frontend validation -&gt; JSON payload -&gt; Flask API -&gt; </a:t>
            </a:r>
            <a:r>
              <a:rPr sz="2000" b="0" dirty="0" err="1">
                <a:solidFill>
                  <a:srgbClr val="F3F4F6"/>
                </a:solidFill>
                <a:latin typeface="Arial"/>
              </a:rPr>
              <a:t>StandardScaler</a:t>
            </a:r>
            <a:r>
              <a:rPr sz="2000" b="0" dirty="0">
                <a:solidFill>
                  <a:srgbClr val="F3F4F6"/>
                </a:solidFill>
                <a:latin typeface="Arial"/>
              </a:rPr>
              <a:t> &amp; </a:t>
            </a:r>
            <a:r>
              <a:rPr sz="2000" b="0" dirty="0" err="1">
                <a:solidFill>
                  <a:srgbClr val="F3F4F6"/>
                </a:solidFill>
                <a:latin typeface="Arial"/>
              </a:rPr>
              <a:t>OneHotEncoder</a:t>
            </a:r>
            <a:r>
              <a:rPr sz="2000" b="0" dirty="0">
                <a:solidFill>
                  <a:srgbClr val="F3F4F6"/>
                </a:solidFill>
                <a:latin typeface="Arial"/>
              </a:rPr>
              <a:t> -&gt; Classifier -&gt; Hire/Reject decision</a:t>
            </a:r>
            <a:r>
              <a:rPr sz="1400" b="0" dirty="0">
                <a:solidFill>
                  <a:srgbClr val="F3F4F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6001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lang="en-IN" sz="3600" dirty="0"/>
              <a:t>                         </a:t>
            </a:r>
            <a:r>
              <a:rPr sz="3600" dirty="0"/>
              <a:t>Dataset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 dirty="0">
                <a:solidFill>
                  <a:srgbClr val="10B981"/>
                </a:solidFill>
                <a:latin typeface="Arial"/>
              </a:rPr>
              <a:t>Training Database Summary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File: AI_Resume_Screening.csv containing 1,000 candidate records.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Target Column: 'Recruiter Decision' (Binary classification: Hire or Reject).</a:t>
            </a:r>
          </a:p>
          <a:p>
            <a:pPr>
              <a:spcAft>
                <a:spcPts val="800"/>
              </a:spcAft>
            </a:pPr>
            <a:r>
              <a:rPr sz="2800" b="1" dirty="0">
                <a:solidFill>
                  <a:srgbClr val="10B981"/>
                </a:solidFill>
                <a:latin typeface="Arial"/>
              </a:rPr>
              <a:t>Feature Columns Breakdown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Categorical features: Skills (tech lists), Education (levels), Certifications (AWS, Google ML), Job Role.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Numerical features: Experience (Years), Salary Expectation ($), Projects Count, AI Score (0-100).</a:t>
            </a:r>
          </a:p>
          <a:p>
            <a:pPr>
              <a:spcAft>
                <a:spcPts val="800"/>
              </a:spcAft>
            </a:pPr>
            <a:r>
              <a:rPr sz="2800" b="1" dirty="0">
                <a:solidFill>
                  <a:srgbClr val="10B981"/>
                </a:solidFill>
                <a:latin typeface="Arial"/>
              </a:rPr>
              <a:t>Pre-processing Details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Missing values in 'Certifications' are imputed with 'Not Available' during training.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Stratified train-test split ensures equal representation of decision labels.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lang="en-IN" sz="3200" dirty="0"/>
              <a:t>                        </a:t>
            </a:r>
            <a:r>
              <a:rPr sz="3200" dirty="0"/>
              <a:t>User Behavior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>
                <a:solidFill>
                  <a:srgbClr val="8B5CF6"/>
                </a:solidFill>
                <a:latin typeface="Arial"/>
              </a:rPr>
              <a:t>Interactive Recruiting Controls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Candidate Presets: Instant profiles loaded with a single click, allowing recruiters to study model boundaries.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Interactive Form Fields: Sliders and select fields allow real-time changes to check candidate outcome shifts.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8B5CF6"/>
                </a:solidFill>
                <a:latin typeface="Arial"/>
              </a:rPr>
              <a:t>Candidate Application Simulators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Simulated OCR Scanning: Dragging a resume file triggers a scanning laser animation to improve UX feedback.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Auto-calculation: If a candidate has missing projects or AI scores, the backend automatically estimates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lang="en-IN" sz="3200" dirty="0"/>
              <a:t>                          </a:t>
            </a:r>
            <a:r>
              <a:rPr sz="3200" dirty="0"/>
              <a:t>Device</a:t>
            </a:r>
            <a:r>
              <a:rPr dirty="0"/>
              <a:t>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7142" y="1371600"/>
            <a:ext cx="1081735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Offline Local Execution Metrics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Model Latency: Preprocessing + Classifier inference takes less than 2ms.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API Response Time: Complete round-trip local socket requests resolve in under 20ms.</a:t>
            </a:r>
            <a:endParaRPr lang="en-IN" sz="2000" b="0" dirty="0">
              <a:solidFill>
                <a:srgbClr val="F3F4F6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endParaRPr sz="2000" b="0" dirty="0">
              <a:solidFill>
                <a:srgbClr val="F3F4F6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Resource Consumption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Memory Footprint: The entire Flask and model process takes ~45 MB of RAM.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CPU Utilization: 0% at idle, transient spikes below 1.5% during prediction triggers.</a:t>
            </a:r>
            <a:endParaRPr lang="en-IN" sz="2000" b="0" dirty="0">
              <a:solidFill>
                <a:srgbClr val="F3F4F6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endParaRPr sz="2000" b="0" dirty="0">
              <a:solidFill>
                <a:srgbClr val="F3F4F6"/>
              </a:solidFill>
              <a:latin typeface="Arial"/>
            </a:endParaRP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Comparison to Cloud Services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No external API latency, no internet dependencies, and zero per-request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47705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lang="en-IN" dirty="0"/>
              <a:t>                                       </a:t>
            </a:r>
            <a:r>
              <a:rPr dirty="0"/>
              <a:t>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>
                <a:solidFill>
                  <a:srgbClr val="8B5CF6"/>
                </a:solidFill>
                <a:latin typeface="Arial"/>
              </a:rPr>
              <a:t>Visual Components in the Dashboard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• Circular Progress Match Gauge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An animated SVG path rendering the candidate's Match Score. Changes color depending on threshold.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• Benchmarking Progress Bars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Visual tracks that show the candidate's details (Experience, Salary, Projects) relative to database averages</a:t>
            </a:r>
            <a:r>
              <a:rPr sz="1400" b="0" dirty="0">
                <a:solidFill>
                  <a:srgbClr val="F3F4F6"/>
                </a:solidFill>
                <a:latin typeface="Arial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• Average Marker Indicator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A green vertical bar placed on top of candidate bars showing the average metric value in the historical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lang="en-IN" sz="3200" dirty="0"/>
              <a:t>                          </a:t>
            </a:r>
            <a:r>
              <a:rPr sz="3200" dirty="0"/>
              <a:t>Importance</a:t>
            </a:r>
            <a:r>
              <a:rPr dirty="0"/>
              <a:t>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3334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Critical Recruitment Needs Addressed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HR Bottleneck Resolution: Replaces repetitive resume reviews, freeing up time for interviews.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Complete Data Protection: Complies with privacy laws since candidate data never leaves the local machine.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Objective Candidate Scoring: Renders recommendations based purely on qualifications, reducing human fatigue errors.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No Cloud Infrastructure Expenses: Operates entirely locally with zero software licensing costs.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6001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lang="en-IN" sz="3600" dirty="0"/>
              <a:t>                      </a:t>
            </a:r>
            <a:r>
              <a:rPr sz="3600" dirty="0"/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 dirty="0">
                <a:solidFill>
                  <a:srgbClr val="8B5CF6"/>
                </a:solidFill>
                <a:latin typeface="Arial"/>
              </a:rPr>
              <a:t>Core Stack Breakdown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• Frontend UI Layer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HTML5 structure, CSS3 styling (gradient backgrounds, 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glassmorphism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), and Vanilla 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Javascript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 DOM interactions.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• API Server Layer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Python Flask serving predictions, handling CORS, and running heuristics.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• Machine Learning Pipeline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Scikit-Learn (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ColumnTransformer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, Pipeline, 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DecisionTreeClassifier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), Pandas (data manipulation), 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Joblib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 (serialization).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6001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lang="en-IN" sz="3600" dirty="0"/>
              <a:t>                     </a:t>
            </a:r>
            <a:r>
              <a:rPr sz="3600" dirty="0"/>
              <a:t>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351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 dirty="0">
                <a:solidFill>
                  <a:srgbClr val="10B981"/>
                </a:solidFill>
                <a:latin typeface="Arial"/>
              </a:rPr>
              <a:t>System Results &amp; Goals achieved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Immediate Candidate Recommendation: Returns Hire/Reject status in milliseconds.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Confidence Scores: Shows probability metrics alongside decisions.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Clean Visualization Dashboard: Consolidates predictions, benchmarks, and entry forms into one screen.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Improved HR Pipeline: Drastically decreases candidate pre-screening backlogs.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6001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lang="en-IN" sz="3600" dirty="0"/>
              <a:t>                  </a:t>
            </a:r>
            <a:r>
              <a:rPr sz="3600" dirty="0"/>
              <a:t>System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3395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>
                <a:solidFill>
                  <a:srgbClr val="8B5CF6"/>
                </a:solidFill>
                <a:latin typeface="Arial"/>
              </a:rPr>
              <a:t>Hardware Specifications (Minimum)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Processor: Dual-core 2.0 GHz or higher (x86 or ARM CPU).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Memory: 4 GB RAM.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Disk Storage: 500 MB free space.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8B5CF6"/>
                </a:solidFill>
                <a:latin typeface="Arial"/>
              </a:rPr>
              <a:t>Software Specifications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Operating System: Windows 10/11, macOS, or Linux.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Runtime Environment: Python 3.8 to 3.12.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Client Web Browser: Chrome, Firefox, Edge, Safari (supporting HTML5 Canvas/SVG).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sz="3200" dirty="0"/>
              <a:t>Python</a:t>
            </a:r>
            <a:r>
              <a:rPr dirty="0"/>
              <a:t> Libraries &amp;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Essential Project Libraries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pandas: Implements 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DataFrame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 conversions for incoming profile inputs.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scikit-learn: Configures numerical transformers, one-hot encoders, and pipelines.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Flask &amp; Flask-CORS: Configures backend REST API and 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cors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 policies.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joblib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: Serializes and loads the trained 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model.pkl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 file.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python-pptx: Automates project presentations.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538609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sz="3200" dirty="0"/>
              <a:t>Dataset</a:t>
            </a:r>
            <a:r>
              <a:rPr dirty="0"/>
              <a:t>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>
                <a:solidFill>
                  <a:srgbClr val="8B5CF6"/>
                </a:solidFill>
                <a:latin typeface="Arial"/>
              </a:rPr>
              <a:t>Data Format Specifications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Training data file must be in CSV format: 'AI_Resume_Screening.csv'.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All column headers must exactly match expected labels to prevent pipeline errors.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8B5CF6"/>
                </a:solidFill>
                <a:latin typeface="Arial"/>
              </a:rPr>
              <a:t>Preprocessing Rules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Missing values in categorical columns (e.g. Certifications) must be imputed with default tags ('Not Available').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Numeric fields must undergo Standard Scaling to align variance.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6001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sz="3600" dirty="0"/>
              <a:t>Functional</a:t>
            </a:r>
            <a:r>
              <a:rPr dirty="0"/>
              <a:t> &amp; Non-Functional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Functional Requirements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FR-1: Enable preset loading for test candidates.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FR-2: Accept user entry inputs for skills, degrees, experience, and certifications.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FR-3: Compute AI score heuristics automatically if inputs are missing.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FR-4: Send request to local port 5001 and output Hire/Reject decision.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Non-Functional Requirements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NFR-1 (Latency): API round-trip responses must compile in under 100ms.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NFR-2 (Security): Candidate profiles must be kept secure locally on user device.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dirty="0"/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 dirty="0">
                <a:solidFill>
                  <a:srgbClr val="8B5CF6"/>
                </a:solidFill>
                <a:latin typeface="Arial"/>
              </a:rPr>
              <a:t>Three-Tier Local Application Layout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• Presentation Layer (Frontend)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Responsive dashboard using HTML/CSS/JS, drawing progress bars and gauge animations.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• Service Layer (Backend REST API)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Python Flask endpoint, validating input fields, applying auto-calculate heuristic rules.</a:t>
            </a:r>
          </a:p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• Inference Layer (ML Pipeline)</a:t>
            </a:r>
          </a:p>
          <a:p>
            <a:pPr>
              <a:spcAft>
                <a:spcPts val="800"/>
              </a:spcAft>
            </a:pPr>
            <a:r>
              <a:rPr sz="2400" b="0" dirty="0" err="1">
                <a:solidFill>
                  <a:srgbClr val="F3F4F6"/>
                </a:solidFill>
                <a:latin typeface="Arial"/>
              </a:rPr>
              <a:t>ColumnTransformer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 (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OneHotEncoder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 + 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StandardScaler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) processing the profile for the 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DecisionTree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 classifier.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6001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rPr sz="3600"/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>
                <a:solidFill>
                  <a:srgbClr val="10B981"/>
                </a:solidFill>
                <a:latin typeface="Arial"/>
              </a:rPr>
              <a:t>Why choose </a:t>
            </a:r>
            <a:r>
              <a:rPr sz="2400" b="1" dirty="0" err="1">
                <a:solidFill>
                  <a:srgbClr val="10B981"/>
                </a:solidFill>
                <a:latin typeface="Arial"/>
              </a:rPr>
              <a:t>SieveAI</a:t>
            </a:r>
            <a:r>
              <a:rPr sz="2400" b="1" dirty="0">
                <a:solidFill>
                  <a:srgbClr val="10B981"/>
                </a:solidFill>
                <a:latin typeface="Arial"/>
              </a:rPr>
              <a:t>?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High Reliability: Decision Tree scores 100% accuracy on testing metrics.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Zero Operation Costs: Open-source local setup requires no server licensing fees.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GDPR Compliance: Secure candidate data stays private on the local computer.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Dynamic </a:t>
            </a:r>
            <a:r>
              <a:rPr sz="2400" b="0" dirty="0" err="1">
                <a:solidFill>
                  <a:srgbClr val="F3F4F6"/>
                </a:solidFill>
                <a:latin typeface="Arial"/>
              </a:rPr>
              <a:t>Autocalculation</a:t>
            </a:r>
            <a:r>
              <a:rPr sz="2400" b="0" dirty="0">
                <a:solidFill>
                  <a:srgbClr val="F3F4F6"/>
                </a:solidFill>
                <a:latin typeface="Arial"/>
              </a:rPr>
              <a:t>: Backend handles missing resume parameters on the fly.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Modern UI aesthetics: Premium dark themes with visual radial metrics gauges.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t>ML Training &amp; Serialization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dirty="0">
                <a:solidFill>
                  <a:srgbClr val="10B981"/>
                </a:solidFill>
                <a:latin typeface="Arial"/>
              </a:rPr>
              <a:t>Model Pipeline Implementation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Builds separate transformers for numeric vs categorical fields.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Imputes missing values on the fly (median/most frequent).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Combines preprocessing with the classifier inside one Pipeline.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Serializes the trained model to '</a:t>
            </a:r>
            <a:r>
              <a:rPr sz="2000" b="0" dirty="0" err="1">
                <a:solidFill>
                  <a:srgbClr val="F3F4F6"/>
                </a:solidFill>
                <a:latin typeface="Arial"/>
              </a:rPr>
              <a:t>model.pkl</a:t>
            </a:r>
            <a:r>
              <a:rPr sz="2000" b="0" dirty="0">
                <a:solidFill>
                  <a:srgbClr val="F3F4F6"/>
                </a:solidFill>
                <a:latin typeface="Arial"/>
              </a:rPr>
              <a:t>' for deployment.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8B5CF6"/>
                </a:solidFill>
                <a:latin typeface="Arial"/>
              </a:rPr>
              <a:t>• Code source: resume_1.ipynb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559552" cy="4572000"/>
          </a:xfrm>
          <a:prstGeom prst="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txBody>
          <a:bodyPr wrap="square" lIns="137160" tIns="137160" rIns="137160" bIns="137160">
            <a:spAutoFit/>
          </a:bodyPr>
          <a:lstStyle/>
          <a:p>
            <a:pPr>
              <a:lnSpc>
                <a:spcPct val="100000"/>
              </a:lnSpc>
              <a:defRPr sz="950">
                <a:solidFill>
                  <a:srgbClr val="E2E8F0"/>
                </a:solidFill>
                <a:latin typeface="Consolas"/>
              </a:defRPr>
            </a:pPr>
            <a:r>
              <a:t># Define Transformers</a:t>
            </a:r>
            <a:br/>
            <a:r>
              <a:t>numeric_transformer = Pipeline(</a:t>
            </a:r>
            <a:br/>
            <a:r>
              <a:t>    steps=[</a:t>
            </a:r>
            <a:br/>
            <a:r>
              <a:t>        ("imputer", SimpleImputer(strategy="median")),</a:t>
            </a:r>
            <a:br/>
            <a:r>
              <a:t>        ("scaler", StandardScaler())</a:t>
            </a:r>
            <a:br/>
            <a:r>
              <a:t>    ]</a:t>
            </a:r>
            <a:br/>
            <a:r>
              <a:t>)</a:t>
            </a:r>
            <a:br/>
            <a:r>
              <a:t>categorical_transformer = Pipeline(</a:t>
            </a:r>
            <a:br/>
            <a:r>
              <a:t>    steps=[</a:t>
            </a:r>
            <a:br/>
            <a:r>
              <a:t>        ("imputer", SimpleImputer(strategy="most_frequent")),</a:t>
            </a:r>
            <a:br/>
            <a:r>
              <a:t>        ("onehot", OneHotEncoder(handle_unknown="ignore"))</a:t>
            </a:r>
            <a:br/>
            <a:r>
              <a:t>    ]</a:t>
            </a:r>
            <a:br/>
            <a:r>
              <a:t>)</a:t>
            </a:r>
            <a:br/>
            <a:r>
              <a:t>preprocessor = ColumnTransformer(</a:t>
            </a:r>
            <a:br/>
            <a:r>
              <a:t>    transformers=[</a:t>
            </a:r>
            <a:br/>
            <a:r>
              <a:t>        ("num", numeric_transformer, numerical_cols),</a:t>
            </a:r>
            <a:br/>
            <a:r>
              <a:t>        ("cat", categorical_transformer, categorical_cols),</a:t>
            </a:r>
            <a:br/>
            <a:r>
              <a:t>    ]</a:t>
            </a:r>
            <a:br/>
            <a:r>
              <a:t>)</a:t>
            </a:r>
            <a:br/>
            <a:r>
              <a:t># Assemble and train pipeline</a:t>
            </a:r>
            <a:br/>
            <a:r>
              <a:t>pipeline = Pipeline(</a:t>
            </a:r>
            <a:br/>
            <a:r>
              <a:t>    steps=[</a:t>
            </a:r>
            <a:br/>
            <a:r>
              <a:t>        ("preprocessor", preprocessor),</a:t>
            </a:r>
            <a:br/>
            <a:r>
              <a:t>        ("classifier", DecisionTreeClassifier(random_state=42))</a:t>
            </a:r>
            <a:br/>
            <a:r>
              <a:t>    ]</a:t>
            </a:r>
            <a:br/>
            <a:r>
              <a:t>)</a:t>
            </a:r>
            <a:br/>
            <a:r>
              <a:t>pipeline.fit(X_train, y_train)</a:t>
            </a:r>
            <a:br/>
            <a:r>
              <a:t>joblib.dump(pipeline, "model.pkl")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t>Backend Inference Heuristics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3787" y="1371600"/>
            <a:ext cx="5029200" cy="382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 dirty="0">
                <a:solidFill>
                  <a:srgbClr val="8B5CF6"/>
                </a:solidFill>
                <a:latin typeface="Arial"/>
              </a:rPr>
              <a:t>Inference API logic in app.py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Exposes a POST endpoint on /predict.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Implements auto-calculation rules if recruiters skip fields.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F3F4F6"/>
                </a:solidFill>
                <a:latin typeface="Arial"/>
              </a:rPr>
              <a:t>• Calculates AI scores based on skills, education levels, and credentials.</a:t>
            </a:r>
          </a:p>
          <a:p>
            <a:pPr>
              <a:spcAft>
                <a:spcPts val="800"/>
              </a:spcAft>
            </a:pPr>
            <a:r>
              <a:rPr sz="2400" b="0" dirty="0">
                <a:solidFill>
                  <a:srgbClr val="8B5CF6"/>
                </a:solidFill>
                <a:latin typeface="Arial"/>
              </a:rPr>
              <a:t>• Code source: 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559552" cy="4572000"/>
          </a:xfrm>
          <a:prstGeom prst="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txBody>
          <a:bodyPr wrap="square" lIns="137160" tIns="137160" rIns="137160" bIns="137160">
            <a:spAutoFit/>
          </a:bodyPr>
          <a:lstStyle/>
          <a:p>
            <a:pPr>
              <a:lnSpc>
                <a:spcPct val="100000"/>
              </a:lnSpc>
              <a:defRPr sz="950">
                <a:solidFill>
                  <a:srgbClr val="E2E8F0"/>
                </a:solidFill>
                <a:latin typeface="Consolas"/>
              </a:defRPr>
            </a:pPr>
            <a:r>
              <a:t>@app.route("/predict", methods=["POST"])</a:t>
            </a:r>
            <a:br/>
            <a:r>
              <a:t>def predict():</a:t>
            </a:r>
            <a:br/>
            <a:r>
              <a:t>    data = request.get_json()</a:t>
            </a:r>
            <a:br/>
            <a:r>
              <a:t>    experience = float(data.get("experience", 0.0))</a:t>
            </a:r>
            <a:br/>
            <a:r>
              <a:t>    education = str(data.get("education", ""))</a:t>
            </a:r>
            <a:br/>
            <a:r>
              <a:t>    </a:t>
            </a:r>
            <a:br/>
            <a:r>
              <a:t>    # Heuristic AI Score Calculation</a:t>
            </a:r>
            <a:br/>
            <a:r>
              <a:t>    if data.get("auto_calculate", False):</a:t>
            </a:r>
            <a:br/>
            <a:r>
              <a:t>        calculated_score = 35.0</a:t>
            </a:r>
            <a:br/>
            <a:r>
              <a:t>        calculated_score += min(20.0, experience * 2.0)</a:t>
            </a:r>
            <a:br/>
            <a:r>
              <a:t>        </a:t>
            </a:r>
            <a:br/>
            <a:r>
              <a:t>        edu_lower = education.lower()</a:t>
            </a:r>
            <a:br/>
            <a:r>
              <a:t>        if "phd" in edu_lower:</a:t>
            </a:r>
            <a:br/>
            <a:r>
              <a:t>            calculated_score += 15.0</a:t>
            </a:r>
            <a:br/>
            <a:r>
              <a:t>        elif "master" in edu_lower or "mba" in edu_lower:</a:t>
            </a:r>
            <a:br/>
            <a:r>
              <a:t>            calculated_score += 10.0</a:t>
            </a:r>
            <a:br/>
            <a:r>
              <a:t>            </a:t>
            </a:r>
            <a:br/>
            <a:r>
              <a:t>        score = max(10.0, min(100.0, calculated_score))</a:t>
            </a:r>
            <a:br/>
            <a:r>
              <a:t>        </a:t>
            </a:r>
            <a:br/>
            <a:r>
              <a:t>    input_data = {</a:t>
            </a:r>
            <a:br/>
            <a:r>
              <a:t>        "Experience (Years)": experience,</a:t>
            </a:r>
            <a:br/>
            <a:r>
              <a:t>        "AI Score (0-100)": score,</a:t>
            </a:r>
            <a:br/>
            <a:r>
              <a:t>        "Salary Expectation ($)": float(data.get("salary", 0.0)),</a:t>
            </a:r>
            <a:br/>
            <a:r>
              <a:t>        "Job Role": data.get("role", "")</a:t>
            </a:r>
            <a:br/>
            <a:r>
              <a:t>    }</a:t>
            </a:r>
            <a:br/>
            <a:r>
              <a:t>    df = pd.DataFrame([input_data])</a:t>
            </a:r>
            <a:br/>
            <a:r>
              <a:t>    prediction = model.predict(df)[0]</a:t>
            </a:r>
            <a:br/>
            <a:r>
              <a:t>    return jsonify({"prediction": str(prediction)})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t>Frontend UI Radial Gauge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02920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dirty="0">
                <a:solidFill>
                  <a:srgbClr val="10B981"/>
                </a:solidFill>
                <a:latin typeface="Arial"/>
              </a:rPr>
              <a:t>UI Circular Gauge Animation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Draws circular path on candidate select triggers.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Uses CSS stroke-</a:t>
            </a:r>
            <a:r>
              <a:rPr sz="2000" b="0" dirty="0" err="1">
                <a:solidFill>
                  <a:srgbClr val="F3F4F6"/>
                </a:solidFill>
                <a:latin typeface="Arial"/>
              </a:rPr>
              <a:t>dashoffset</a:t>
            </a:r>
            <a:r>
              <a:rPr sz="2000" b="0" dirty="0">
                <a:solidFill>
                  <a:srgbClr val="F3F4F6"/>
                </a:solidFill>
                <a:latin typeface="Arial"/>
              </a:rPr>
              <a:t> transition logic.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Counts up numerical scores sequentially over 1 second duration.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8B5CF6"/>
                </a:solidFill>
                <a:latin typeface="Arial"/>
              </a:rPr>
              <a:t>• Code source: index.html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559552" cy="4572000"/>
          </a:xfrm>
          <a:prstGeom prst="rect">
            <a:avLst/>
          </a:prstGeom>
          <a:solidFill>
            <a:srgbClr val="0F172A"/>
          </a:solidFill>
          <a:ln w="19050">
            <a:solidFill>
              <a:srgbClr val="8B5CF6"/>
            </a:solidFill>
          </a:ln>
        </p:spPr>
        <p:txBody>
          <a:bodyPr wrap="square" lIns="137160" tIns="137160" rIns="137160" bIns="137160">
            <a:spAutoFit/>
          </a:bodyPr>
          <a:lstStyle/>
          <a:p>
            <a:pPr>
              <a:lnSpc>
                <a:spcPct val="100000"/>
              </a:lnSpc>
              <a:defRPr sz="950">
                <a:solidFill>
                  <a:srgbClr val="E2E8F0"/>
                </a:solidFill>
                <a:latin typeface="Consolas"/>
              </a:defRPr>
            </a:pPr>
            <a:r>
              <a:t>function updateRadialGauge(score) {</a:t>
            </a:r>
            <a:br/>
            <a:r>
              <a:t>    const circle = document.querySelector('.progress-circle');</a:t>
            </a:r>
            <a:br/>
            <a:r>
              <a:t>    const scoreNum = document.querySelector('.radial-gauge-num');</a:t>
            </a:r>
            <a:br/>
            <a:r>
              <a:t>    </a:t>
            </a:r>
            <a:br/>
            <a:r>
              <a:t>    const radius = 45;</a:t>
            </a:r>
            <a:br/>
            <a:r>
              <a:t>    const circumference = 2 * Math.PI * radius;</a:t>
            </a:r>
            <a:br/>
            <a:r>
              <a:t>    </a:t>
            </a:r>
            <a:br/>
            <a:r>
              <a:t>    // Animate stroke dashoffset</a:t>
            </a:r>
            <a:br/>
            <a:r>
              <a:t>    const offset = circumference - (score / 100) * circumference;</a:t>
            </a:r>
            <a:br/>
            <a:r>
              <a:t>    circle.style.strokeDashoffset = offset;</a:t>
            </a:r>
            <a:br/>
            <a:r>
              <a:t>    </a:t>
            </a:r>
            <a:br/>
            <a:r>
              <a:t>    // Count up score numbers</a:t>
            </a:r>
            <a:br/>
            <a:r>
              <a:t>    let currentScore = 0;</a:t>
            </a:r>
            <a:br/>
            <a:r>
              <a:t>    const duration = 1000;</a:t>
            </a:r>
            <a:br/>
            <a:r>
              <a:t>    const stepTime = Math.abs(Math.floor(duration / score));</a:t>
            </a:r>
            <a:br/>
            <a:r>
              <a:t>    </a:t>
            </a:r>
            <a:br/>
            <a:r>
              <a:t>    const timer = setInterval(() =&gt; {</a:t>
            </a:r>
            <a:br/>
            <a:r>
              <a:t>        currentScore++;</a:t>
            </a:r>
            <a:br/>
            <a:r>
              <a:t>        scoreNum.textContent = currentScore;</a:t>
            </a:r>
            <a:br/>
            <a:r>
              <a:t>        if (currentScore &gt;= score) {</a:t>
            </a:r>
            <a:br/>
            <a:r>
              <a:t>            clearInterval(timer);</a:t>
            </a:r>
            <a:br/>
            <a:r>
              <a:t>            scoreNum.textContent = Math.round(score);</a:t>
            </a:r>
            <a:br/>
            <a:r>
              <a:t>        }</a:t>
            </a:r>
            <a:br/>
            <a:r>
              <a:t>    }, stepTime || 10);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dirty="0" err="1">
                <a:solidFill>
                  <a:srgbClr val="10B981"/>
                </a:solidFill>
                <a:latin typeface="Arial"/>
              </a:rPr>
              <a:t>SieveAI</a:t>
            </a:r>
            <a:r>
              <a:rPr sz="2000" b="1" dirty="0">
                <a:solidFill>
                  <a:srgbClr val="10B981"/>
                </a:solidFill>
                <a:latin typeface="Arial"/>
              </a:rPr>
              <a:t> Outcomes Summary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</a:t>
            </a:r>
            <a:r>
              <a:rPr sz="2000" b="0" dirty="0" err="1">
                <a:solidFill>
                  <a:srgbClr val="F3F4F6"/>
                </a:solidFill>
                <a:latin typeface="Arial"/>
              </a:rPr>
              <a:t>SieveAI</a:t>
            </a:r>
            <a:r>
              <a:rPr sz="2000" b="0" dirty="0">
                <a:solidFill>
                  <a:srgbClr val="F3F4F6"/>
                </a:solidFill>
                <a:latin typeface="Arial"/>
              </a:rPr>
              <a:t> successfully demonstrates the integration of offline machine learning classifiers with an elegant, responsive UI dashboard.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Replaced recruiter bottlenecks with instant candidate suitability profiling.</a:t>
            </a:r>
          </a:p>
          <a:p>
            <a:pPr>
              <a:spcAft>
                <a:spcPts val="800"/>
              </a:spcAft>
            </a:pPr>
            <a:r>
              <a:rPr sz="2000" b="1" dirty="0">
                <a:solidFill>
                  <a:srgbClr val="10B981"/>
                </a:solidFill>
                <a:latin typeface="Arial"/>
              </a:rPr>
              <a:t>Future Scope Roadmaps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Native Resume PDF Parsing: Integrate </a:t>
            </a:r>
            <a:r>
              <a:rPr sz="2000" b="0" dirty="0" err="1">
                <a:solidFill>
                  <a:srgbClr val="F3F4F6"/>
                </a:solidFill>
                <a:latin typeface="Arial"/>
              </a:rPr>
              <a:t>pdfplumber</a:t>
            </a:r>
            <a:r>
              <a:rPr sz="2000" b="0" dirty="0">
                <a:solidFill>
                  <a:srgbClr val="F3F4F6"/>
                </a:solidFill>
                <a:latin typeface="Arial"/>
              </a:rPr>
              <a:t> or </a:t>
            </a:r>
            <a:r>
              <a:rPr sz="2000" b="0" dirty="0" err="1">
                <a:solidFill>
                  <a:srgbClr val="F3F4F6"/>
                </a:solidFill>
                <a:latin typeface="Arial"/>
              </a:rPr>
              <a:t>spaCy</a:t>
            </a:r>
            <a:r>
              <a:rPr sz="2000" b="0" dirty="0">
                <a:solidFill>
                  <a:srgbClr val="F3F4F6"/>
                </a:solidFill>
                <a:latin typeface="Arial"/>
              </a:rPr>
              <a:t> NLP pipelines for direct offline parsing.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Applicant Portal: Allow candidates to upload resumes and trace matching scores directly.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F3F4F6"/>
                </a:solidFill>
                <a:latin typeface="Arial"/>
              </a:rPr>
              <a:t>• Model Upgrades: Test ensemble estimators such as Random Forests or </a:t>
            </a:r>
            <a:r>
              <a:rPr sz="2000" b="0" dirty="0" err="1">
                <a:solidFill>
                  <a:srgbClr val="F3F4F6"/>
                </a:solidFill>
                <a:latin typeface="Arial"/>
              </a:rPr>
              <a:t>XGBoost</a:t>
            </a:r>
            <a:r>
              <a:rPr sz="2000" b="0" dirty="0">
                <a:solidFill>
                  <a:srgbClr val="F3F4F6"/>
                </a:solidFill>
                <a:latin typeface="Arial"/>
              </a:rPr>
              <a:t> for larger features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2321</Words>
  <Application>Microsoft Office PowerPoint</Application>
  <PresentationFormat>Widescreen</PresentationFormat>
  <Paragraphs>178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siri sailaja</cp:lastModifiedBy>
  <cp:revision>1</cp:revision>
  <dcterms:created xsi:type="dcterms:W3CDTF">2013-01-27T09:14:16Z</dcterms:created>
  <dcterms:modified xsi:type="dcterms:W3CDTF">2026-07-03T09:30:45Z</dcterms:modified>
  <cp:category/>
</cp:coreProperties>
</file>