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F6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C6F43A-48EC-41FE-8D21-5E89E78B5561}" v="41" dt="2026-06-22T15:22:31.6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ri sailaja" userId="9c9a6b663f163596" providerId="LiveId" clId="{05268B20-8A56-4B5C-83A5-C61891D87DD8}"/>
    <pc:docChg chg="undo custSel addSld delSld modSld">
      <pc:chgData name="siri sailaja" userId="9c9a6b663f163596" providerId="LiveId" clId="{05268B20-8A56-4B5C-83A5-C61891D87DD8}" dt="2026-07-05T12:30:23.379" v="585" actId="20577"/>
      <pc:docMkLst>
        <pc:docMk/>
      </pc:docMkLst>
      <pc:sldChg chg="addSp delSp modSp mod modTransition modClrScheme chgLayout">
        <pc:chgData name="siri sailaja" userId="9c9a6b663f163596" providerId="LiveId" clId="{05268B20-8A56-4B5C-83A5-C61891D87DD8}" dt="2026-06-22T15:20:35.835" v="541" actId="339"/>
        <pc:sldMkLst>
          <pc:docMk/>
          <pc:sldMk cId="0" sldId="256"/>
        </pc:sldMkLst>
        <pc:spChg chg="mod">
          <ac:chgData name="siri sailaja" userId="9c9a6b663f163596" providerId="LiveId" clId="{05268B20-8A56-4B5C-83A5-C61891D87DD8}" dt="2026-06-22T15:20:35.835" v="541" actId="339"/>
          <ac:spMkLst>
            <pc:docMk/>
            <pc:sldMk cId="0" sldId="256"/>
            <ac:spMk id="2" creationId="{00000000-0000-0000-0000-000000000000}"/>
          </ac:spMkLst>
        </pc:spChg>
        <pc:spChg chg="add mod ord">
          <ac:chgData name="siri sailaja" userId="9c9a6b663f163596" providerId="LiveId" clId="{05268B20-8A56-4B5C-83A5-C61891D87DD8}" dt="2026-06-22T14:46:22.797" v="161" actId="1076"/>
          <ac:spMkLst>
            <pc:docMk/>
            <pc:sldMk cId="0" sldId="256"/>
            <ac:spMk id="5" creationId="{08CCDDE7-DC2E-8A2C-4F2C-DFBD4D2DDCC1}"/>
          </ac:spMkLst>
        </pc:spChg>
        <pc:picChg chg="mod">
          <ac:chgData name="siri sailaja" userId="9c9a6b663f163596" providerId="LiveId" clId="{05268B20-8A56-4B5C-83A5-C61891D87DD8}" dt="2026-06-22T14:52:58.385" v="357" actId="14100"/>
          <ac:picMkLst>
            <pc:docMk/>
            <pc:sldMk cId="0" sldId="256"/>
            <ac:picMk id="3" creationId="{00000000-0000-0000-0000-000000000000}"/>
          </ac:picMkLst>
        </pc:picChg>
        <pc:inkChg chg="add">
          <ac:chgData name="siri sailaja" userId="9c9a6b663f163596" providerId="LiveId" clId="{05268B20-8A56-4B5C-83A5-C61891D87DD8}" dt="2026-06-22T15:14:46.780" v="525" actId="9405"/>
          <ac:inkMkLst>
            <pc:docMk/>
            <pc:sldMk cId="0" sldId="256"/>
            <ac:inkMk id="11" creationId="{9C7691B4-FF1F-4E78-D3CA-9C92E374FCBA}"/>
          </ac:inkMkLst>
        </pc:inkChg>
        <pc:inkChg chg="add">
          <ac:chgData name="siri sailaja" userId="9c9a6b663f163596" providerId="LiveId" clId="{05268B20-8A56-4B5C-83A5-C61891D87DD8}" dt="2026-06-22T15:14:47.711" v="526" actId="9405"/>
          <ac:inkMkLst>
            <pc:docMk/>
            <pc:sldMk cId="0" sldId="256"/>
            <ac:inkMk id="12" creationId="{C466BF90-5167-3633-8431-73969417F6B9}"/>
          </ac:inkMkLst>
        </pc:inkChg>
        <pc:inkChg chg="add">
          <ac:chgData name="siri sailaja" userId="9c9a6b663f163596" providerId="LiveId" clId="{05268B20-8A56-4B5C-83A5-C61891D87DD8}" dt="2026-06-22T15:15:01.821" v="527" actId="9405"/>
          <ac:inkMkLst>
            <pc:docMk/>
            <pc:sldMk cId="0" sldId="256"/>
            <ac:inkMk id="15" creationId="{F34A2A8E-4CC7-C703-6BB8-22DBB282321B}"/>
          </ac:inkMkLst>
        </pc:inkChg>
      </pc:sldChg>
      <pc:sldChg chg="addSp delSp modSp mod modTransition">
        <pc:chgData name="siri sailaja" userId="9c9a6b663f163596" providerId="LiveId" clId="{05268B20-8A56-4B5C-83A5-C61891D87DD8}" dt="2026-06-22T15:12:13.655" v="503"/>
        <pc:sldMkLst>
          <pc:docMk/>
          <pc:sldMk cId="0" sldId="257"/>
        </pc:sldMkLst>
        <pc:spChg chg="mod">
          <ac:chgData name="siri sailaja" userId="9c9a6b663f163596" providerId="LiveId" clId="{05268B20-8A56-4B5C-83A5-C61891D87DD8}" dt="2026-06-22T14:50:55.347" v="328" actId="113"/>
          <ac:spMkLst>
            <pc:docMk/>
            <pc:sldMk cId="0" sldId="257"/>
            <ac:spMk id="2" creationId="{00000000-0000-0000-0000-000000000000}"/>
          </ac:spMkLst>
        </pc:spChg>
        <pc:spChg chg="mod">
          <ac:chgData name="siri sailaja" userId="9c9a6b663f163596" providerId="LiveId" clId="{05268B20-8A56-4B5C-83A5-C61891D87DD8}" dt="2026-06-22T14:52:32.547" v="354" actId="255"/>
          <ac:spMkLst>
            <pc:docMk/>
            <pc:sldMk cId="0" sldId="257"/>
            <ac:spMk id="4" creationId="{00000000-0000-0000-0000-000000000000}"/>
          </ac:spMkLst>
        </pc:spChg>
        <pc:picChg chg="mod">
          <ac:chgData name="siri sailaja" userId="9c9a6b663f163596" providerId="LiveId" clId="{05268B20-8A56-4B5C-83A5-C61891D87DD8}" dt="2026-06-22T14:53:22.526" v="363" actId="14100"/>
          <ac:picMkLst>
            <pc:docMk/>
            <pc:sldMk cId="0" sldId="257"/>
            <ac:picMk id="5" creationId="{00000000-0000-0000-0000-000000000000}"/>
          </ac:picMkLst>
        </pc:picChg>
      </pc:sldChg>
      <pc:sldChg chg="modSp mod modTransition">
        <pc:chgData name="siri sailaja" userId="9c9a6b663f163596" providerId="LiveId" clId="{05268B20-8A56-4B5C-83A5-C61891D87DD8}" dt="2026-07-05T12:30:23.379" v="585" actId="20577"/>
        <pc:sldMkLst>
          <pc:docMk/>
          <pc:sldMk cId="0" sldId="258"/>
        </pc:sldMkLst>
        <pc:spChg chg="mod">
          <ac:chgData name="siri sailaja" userId="9c9a6b663f163596" providerId="LiveId" clId="{05268B20-8A56-4B5C-83A5-C61891D87DD8}" dt="2026-07-05T12:30:23.379" v="585" actId="20577"/>
          <ac:spMkLst>
            <pc:docMk/>
            <pc:sldMk cId="0" sldId="258"/>
            <ac:spMk id="4" creationId="{00000000-0000-0000-0000-000000000000}"/>
          </ac:spMkLst>
        </pc:spChg>
        <pc:picChg chg="mod">
          <ac:chgData name="siri sailaja" userId="9c9a6b663f163596" providerId="LiveId" clId="{05268B20-8A56-4B5C-83A5-C61891D87DD8}" dt="2026-06-22T14:54:23.371" v="371" actId="14100"/>
          <ac:picMkLst>
            <pc:docMk/>
            <pc:sldMk cId="0" sldId="258"/>
            <ac:picMk id="5" creationId="{00000000-0000-0000-0000-000000000000}"/>
          </ac:picMkLst>
        </pc:picChg>
      </pc:sldChg>
      <pc:sldChg chg="modSp mod modTransition">
        <pc:chgData name="siri sailaja" userId="9c9a6b663f163596" providerId="LiveId" clId="{05268B20-8A56-4B5C-83A5-C61891D87DD8}" dt="2026-06-22T15:12:27.089" v="507"/>
        <pc:sldMkLst>
          <pc:docMk/>
          <pc:sldMk cId="0" sldId="259"/>
        </pc:sldMkLst>
        <pc:spChg chg="mod">
          <ac:chgData name="siri sailaja" userId="9c9a6b663f163596" providerId="LiveId" clId="{05268B20-8A56-4B5C-83A5-C61891D87DD8}" dt="2026-06-22T14:55:31.160" v="380" actId="255"/>
          <ac:spMkLst>
            <pc:docMk/>
            <pc:sldMk cId="0" sldId="259"/>
            <ac:spMk id="4" creationId="{00000000-0000-0000-0000-000000000000}"/>
          </ac:spMkLst>
        </pc:spChg>
      </pc:sldChg>
      <pc:sldChg chg="modSp mod modTransition">
        <pc:chgData name="siri sailaja" userId="9c9a6b663f163596" providerId="LiveId" clId="{05268B20-8A56-4B5C-83A5-C61891D87DD8}" dt="2026-06-22T15:12:43.725" v="509"/>
        <pc:sldMkLst>
          <pc:docMk/>
          <pc:sldMk cId="0" sldId="260"/>
        </pc:sldMkLst>
        <pc:spChg chg="mod">
          <ac:chgData name="siri sailaja" userId="9c9a6b663f163596" providerId="LiveId" clId="{05268B20-8A56-4B5C-83A5-C61891D87DD8}" dt="2026-06-22T14:55:41.108" v="382" actId="14100"/>
          <ac:spMkLst>
            <pc:docMk/>
            <pc:sldMk cId="0" sldId="260"/>
            <ac:spMk id="4" creationId="{00000000-0000-0000-0000-000000000000}"/>
          </ac:spMkLst>
        </pc:spChg>
        <pc:spChg chg="mod">
          <ac:chgData name="siri sailaja" userId="9c9a6b663f163596" providerId="LiveId" clId="{05268B20-8A56-4B5C-83A5-C61891D87DD8}" dt="2026-06-22T14:55:55.740" v="385" actId="14100"/>
          <ac:spMkLst>
            <pc:docMk/>
            <pc:sldMk cId="0" sldId="260"/>
            <ac:spMk id="5" creationId="{00000000-0000-0000-0000-000000000000}"/>
          </ac:spMkLst>
        </pc:spChg>
      </pc:sldChg>
      <pc:sldChg chg="modSp mod modTransition">
        <pc:chgData name="siri sailaja" userId="9c9a6b663f163596" providerId="LiveId" clId="{05268B20-8A56-4B5C-83A5-C61891D87DD8}" dt="2026-06-22T15:12:49.068" v="510"/>
        <pc:sldMkLst>
          <pc:docMk/>
          <pc:sldMk cId="0" sldId="261"/>
        </pc:sldMkLst>
        <pc:spChg chg="mod">
          <ac:chgData name="siri sailaja" userId="9c9a6b663f163596" providerId="LiveId" clId="{05268B20-8A56-4B5C-83A5-C61891D87DD8}" dt="2026-06-22T14:56:35.359" v="391" actId="113"/>
          <ac:spMkLst>
            <pc:docMk/>
            <pc:sldMk cId="0" sldId="261"/>
            <ac:spMk id="4" creationId="{00000000-0000-0000-0000-000000000000}"/>
          </ac:spMkLst>
        </pc:spChg>
      </pc:sldChg>
      <pc:sldChg chg="modSp mod modTransition">
        <pc:chgData name="siri sailaja" userId="9c9a6b663f163596" providerId="LiveId" clId="{05268B20-8A56-4B5C-83A5-C61891D87DD8}" dt="2026-06-22T15:12:53.305" v="511"/>
        <pc:sldMkLst>
          <pc:docMk/>
          <pc:sldMk cId="0" sldId="262"/>
        </pc:sldMkLst>
      </pc:sldChg>
      <pc:sldChg chg="modTransition">
        <pc:chgData name="siri sailaja" userId="9c9a6b663f163596" providerId="LiveId" clId="{05268B20-8A56-4B5C-83A5-C61891D87DD8}" dt="2026-06-22T15:12:56.508" v="512"/>
        <pc:sldMkLst>
          <pc:docMk/>
          <pc:sldMk cId="0" sldId="263"/>
        </pc:sldMkLst>
      </pc:sldChg>
      <pc:sldChg chg="modSp mod modTransition">
        <pc:chgData name="siri sailaja" userId="9c9a6b663f163596" providerId="LiveId" clId="{05268B20-8A56-4B5C-83A5-C61891D87DD8}" dt="2026-06-22T15:14:24.653" v="518"/>
        <pc:sldMkLst>
          <pc:docMk/>
          <pc:sldMk cId="0" sldId="264"/>
        </pc:sldMkLst>
        <pc:spChg chg="mod">
          <ac:chgData name="siri sailaja" userId="9c9a6b663f163596" providerId="LiveId" clId="{05268B20-8A56-4B5C-83A5-C61891D87DD8}" dt="2026-06-22T14:57:50.231" v="398" actId="255"/>
          <ac:spMkLst>
            <pc:docMk/>
            <pc:sldMk cId="0" sldId="264"/>
            <ac:spMk id="4" creationId="{00000000-0000-0000-0000-000000000000}"/>
          </ac:spMkLst>
        </pc:spChg>
      </pc:sldChg>
      <pc:sldChg chg="modSp mod modTransition">
        <pc:chgData name="siri sailaja" userId="9c9a6b663f163596" providerId="LiveId" clId="{05268B20-8A56-4B5C-83A5-C61891D87DD8}" dt="2026-06-22T15:22:31.684" v="550"/>
        <pc:sldMkLst>
          <pc:docMk/>
          <pc:sldMk cId="0" sldId="265"/>
        </pc:sldMkLst>
        <pc:spChg chg="mod">
          <ac:chgData name="siri sailaja" userId="9c9a6b663f163596" providerId="LiveId" clId="{05268B20-8A56-4B5C-83A5-C61891D87DD8}" dt="2026-06-22T15:22:31.684" v="550"/>
          <ac:spMkLst>
            <pc:docMk/>
            <pc:sldMk cId="0" sldId="265"/>
            <ac:spMk id="2"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15:14:46.778"/>
    </inkml:context>
    <inkml:brush xml:id="br0">
      <inkml:brushProperty name="width" value="0.035" units="cm"/>
      <inkml:brushProperty name="height" value="0.03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15:14:47.709"/>
    </inkml:context>
    <inkml:brush xml:id="br0">
      <inkml:brushProperty name="width" value="0.035" units="cm"/>
      <inkml:brushProperty name="height" value="0.035" units="cm"/>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15:15:01.819"/>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63743-E694-49E4-87A8-40FC3B0D0C86}" type="datetimeFigureOut">
              <a:rPr lang="en-IN" smtClean="0"/>
              <a:t>05-07-2026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CBE7F6-8B35-4263-BA81-5022ECF5D08F}" type="slidenum">
              <a:rPr lang="en-IN" smtClean="0"/>
              <a:t>‹#›</a:t>
            </a:fld>
            <a:endParaRPr lang="en-IN"/>
          </a:p>
        </p:txBody>
      </p:sp>
    </p:spTree>
    <p:extLst>
      <p:ext uri="{BB962C8B-B14F-4D97-AF65-F5344CB8AC3E}">
        <p14:creationId xmlns:p14="http://schemas.microsoft.com/office/powerpoint/2010/main" val="140766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customXml" Target="../ink/ink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1541711"/>
            <a:ext cx="6400800" cy="4021614"/>
          </a:xfrm>
          <a:prstGeom prst="rect">
            <a:avLst/>
          </a:prstGeom>
          <a:solidFill>
            <a:schemeClr val="bg1"/>
          </a:solidFill>
          <a:ln>
            <a:noFill/>
          </a:ln>
          <a:effectLst>
            <a:outerShdw blurRad="190500" dist="228600" dir="2700000" algn="ctr">
              <a:srgbClr val="000000">
                <a:alpha val="30000"/>
              </a:srgbClr>
            </a:outerShdw>
            <a:softEdge rad="63500"/>
          </a:effectLst>
          <a:scene3d>
            <a:camera prst="orthographicFront">
              <a:rot lat="0" lon="0" rev="0"/>
            </a:camera>
            <a:lightRig rig="glow" dir="t">
              <a:rot lat="0" lon="0" rev="4800000"/>
            </a:lightRig>
          </a:scene3d>
          <a:sp3d prstMaterial="matte">
            <a:bevelT w="127000" h="63500"/>
          </a:sp3d>
        </p:spPr>
        <p:style>
          <a:lnRef idx="3">
            <a:schemeClr val="lt1"/>
          </a:lnRef>
          <a:fillRef idx="1">
            <a:schemeClr val="accent3"/>
          </a:fillRef>
          <a:effectRef idx="1">
            <a:schemeClr val="accent3"/>
          </a:effectRef>
          <a:fontRef idx="minor">
            <a:schemeClr val="lt1"/>
          </a:fontRef>
        </p:style>
        <p:txBody>
          <a:bodyPr wrap="square">
            <a:spAutoFit/>
          </a:bodyPr>
          <a:lstStyle/>
          <a:p>
            <a:pPr>
              <a:spcAft>
                <a:spcPts val="2800"/>
              </a:spcAft>
              <a:defRPr sz="1100" b="1">
                <a:solidFill>
                  <a:srgbClr val="64748B"/>
                </a:solidFill>
                <a:latin typeface="Consolas"/>
              </a:defRPr>
            </a:pPr>
            <a:r>
              <a:rPr sz="2400" dirty="0"/>
              <a:t>MACHINE LEARNING CANDIDATE PROFILING &amp; AUTOMATED PRE-SCREENING</a:t>
            </a:r>
          </a:p>
          <a:p>
            <a:pPr>
              <a:defRPr sz="1300" b="1">
                <a:solidFill>
                  <a:srgbClr val="1E293B"/>
                </a:solidFill>
                <a:latin typeface="Calibri"/>
              </a:defRPr>
            </a:pPr>
            <a:r>
              <a:rPr sz="2800" dirty="0">
                <a:solidFill>
                  <a:srgbClr val="002060"/>
                </a:solidFill>
              </a:rPr>
              <a:t>Developed by Team:</a:t>
            </a:r>
            <a:endParaRPr lang="en-IN" sz="2800" dirty="0">
              <a:solidFill>
                <a:srgbClr val="002060"/>
              </a:solidFill>
            </a:endParaRPr>
          </a:p>
          <a:p>
            <a:pPr>
              <a:defRPr sz="1300" b="1">
                <a:solidFill>
                  <a:srgbClr val="1E293B"/>
                </a:solidFill>
                <a:latin typeface="Calibri"/>
              </a:defRPr>
            </a:pPr>
            <a:br>
              <a:rPr dirty="0"/>
            </a:br>
            <a:r>
              <a:rPr sz="2400" dirty="0">
                <a:solidFill>
                  <a:srgbClr val="0070C0"/>
                </a:solidFill>
              </a:rPr>
              <a:t> </a:t>
            </a:r>
            <a:r>
              <a:rPr lang="en-IN" sz="2400" dirty="0">
                <a:solidFill>
                  <a:srgbClr val="0070C0"/>
                </a:solidFill>
              </a:rPr>
              <a:t>~G Siri Sailaja(24221A6118)</a:t>
            </a:r>
          </a:p>
          <a:p>
            <a:pPr>
              <a:spcAft>
                <a:spcPts val="600"/>
              </a:spcAft>
              <a:defRPr sz="1400" b="1">
                <a:solidFill>
                  <a:srgbClr val="1E293B"/>
                </a:solidFill>
                <a:latin typeface="Calibri"/>
              </a:defRPr>
            </a:pPr>
            <a:r>
              <a:rPr lang="en-IN" sz="2400" dirty="0">
                <a:solidFill>
                  <a:srgbClr val="0070C0"/>
                </a:solidFill>
              </a:rPr>
              <a:t> ~Ch Varshini (24221A6113)  </a:t>
            </a:r>
          </a:p>
          <a:p>
            <a:pPr>
              <a:spcAft>
                <a:spcPts val="600"/>
              </a:spcAft>
              <a:defRPr sz="1400" b="1">
                <a:solidFill>
                  <a:srgbClr val="1E293B"/>
                </a:solidFill>
                <a:latin typeface="Calibri"/>
              </a:defRPr>
            </a:pPr>
            <a:r>
              <a:rPr lang="en-IN" sz="2400" dirty="0">
                <a:solidFill>
                  <a:srgbClr val="0070C0"/>
                </a:solidFill>
              </a:rPr>
              <a:t> ~Ch Mounika(24221A6112)       </a:t>
            </a:r>
          </a:p>
          <a:p>
            <a:pPr>
              <a:defRPr sz="1400" b="1">
                <a:solidFill>
                  <a:srgbClr val="1E293B"/>
                </a:solidFill>
                <a:latin typeface="Calibri"/>
              </a:defRPr>
            </a:pPr>
            <a:r>
              <a:rPr lang="en-IN" sz="2400" dirty="0">
                <a:solidFill>
                  <a:srgbClr val="0070C0"/>
                </a:solidFill>
              </a:rPr>
              <a:t> ~G Gayathri   (24221A4214)</a:t>
            </a:r>
          </a:p>
          <a:p>
            <a:pPr>
              <a:defRPr sz="1300" b="1">
                <a:solidFill>
                  <a:srgbClr val="1E293B"/>
                </a:solidFill>
                <a:latin typeface="Calibri"/>
              </a:defRPr>
            </a:pPr>
            <a:endParaRPr lang="en-IN" sz="2400" dirty="0">
              <a:solidFill>
                <a:srgbClr val="0070C0"/>
              </a:solidFill>
            </a:endParaRPr>
          </a:p>
          <a:p>
            <a:pPr>
              <a:defRPr sz="1300" b="1">
                <a:solidFill>
                  <a:srgbClr val="1E293B"/>
                </a:solidFill>
                <a:latin typeface="Calibri"/>
              </a:defRPr>
            </a:pPr>
            <a:endParaRPr dirty="0"/>
          </a:p>
        </p:txBody>
      </p:sp>
      <p:pic>
        <p:nvPicPr>
          <p:cNvPr id="3" name="Picture 2" descr="sieveai_title_graphic_1782138016098.png"/>
          <p:cNvPicPr>
            <a:picLocks noChangeAspect="1"/>
          </p:cNvPicPr>
          <p:nvPr/>
        </p:nvPicPr>
        <p:blipFill>
          <a:blip r:embed="rId2"/>
          <a:stretch>
            <a:fillRect/>
          </a:stretch>
        </p:blipFill>
        <p:spPr>
          <a:xfrm>
            <a:off x="6990735" y="1371599"/>
            <a:ext cx="5073446" cy="5285669"/>
          </a:xfrm>
          <a:prstGeom prst="rect">
            <a:avLst/>
          </a:prstGeom>
        </p:spPr>
      </p:pic>
      <p:sp>
        <p:nvSpPr>
          <p:cNvPr id="5" name="Title 4">
            <a:extLst>
              <a:ext uri="{FF2B5EF4-FFF2-40B4-BE49-F238E27FC236}">
                <a16:creationId xmlns:a16="http://schemas.microsoft.com/office/drawing/2014/main" id="{08CCDDE7-DC2E-8A2C-4F2C-DFBD4D2DDCC1}"/>
              </a:ext>
            </a:extLst>
          </p:cNvPr>
          <p:cNvSpPr>
            <a:spLocks noGrp="1"/>
          </p:cNvSpPr>
          <p:nvPr>
            <p:ph type="title"/>
          </p:nvPr>
        </p:nvSpPr>
        <p:spPr>
          <a:xfrm>
            <a:off x="1981200" y="200731"/>
            <a:ext cx="8229600" cy="1143000"/>
          </a:xfrm>
        </p:spPr>
        <p:txBody>
          <a:bodyPr>
            <a:normAutofit fontScale="90000"/>
          </a:bodyPr>
          <a:lstStyle/>
          <a:p>
            <a:r>
              <a:rPr lang="en-IN" b="1" spc="-300" dirty="0">
                <a:solidFill>
                  <a:srgbClr val="002060"/>
                </a:solidFill>
                <a:effectLst>
                  <a:outerShdw blurRad="38100" dist="38100" dir="2700000" algn="tl">
                    <a:srgbClr val="000000">
                      <a:alpha val="43137"/>
                    </a:srgbClr>
                  </a:outerShdw>
                </a:effectLst>
                <a:latin typeface="Arial Black" panose="020B0A04020102020204" pitchFamily="34" charset="0"/>
              </a:rPr>
              <a:t>AI-Powered Resume &amp; Interview Intelligence Platform</a:t>
            </a:r>
          </a:p>
        </p:txBody>
      </p:sp>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9C7691B4-FF1F-4E78-D3CA-9C92E374FCBA}"/>
                  </a:ext>
                </a:extLst>
              </p14:cNvPr>
              <p14:cNvContentPartPr/>
              <p14:nvPr/>
            </p14:nvContentPartPr>
            <p14:xfrm>
              <a:off x="-727630" y="1504308"/>
              <a:ext cx="360" cy="360"/>
            </p14:xfrm>
          </p:contentPart>
        </mc:Choice>
        <mc:Fallback xmlns="">
          <p:pic>
            <p:nvPicPr>
              <p:cNvPr id="11" name="Ink 10">
                <a:extLst>
                  <a:ext uri="{FF2B5EF4-FFF2-40B4-BE49-F238E27FC236}">
                    <a16:creationId xmlns:a16="http://schemas.microsoft.com/office/drawing/2014/main" id="{9C7691B4-FF1F-4E78-D3CA-9C92E374FCBA}"/>
                  </a:ext>
                </a:extLst>
              </p:cNvPr>
              <p:cNvPicPr/>
              <p:nvPr/>
            </p:nvPicPr>
            <p:blipFill>
              <a:blip r:embed="rId4"/>
              <a:stretch>
                <a:fillRect/>
              </a:stretch>
            </p:blipFill>
            <p:spPr>
              <a:xfrm>
                <a:off x="-733750" y="14981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C466BF90-5167-3633-8431-73969417F6B9}"/>
                  </a:ext>
                </a:extLst>
              </p14:cNvPr>
              <p14:cNvContentPartPr/>
              <p14:nvPr/>
            </p14:nvContentPartPr>
            <p14:xfrm>
              <a:off x="1366850" y="766668"/>
              <a:ext cx="360" cy="360"/>
            </p14:xfrm>
          </p:contentPart>
        </mc:Choice>
        <mc:Fallback xmlns="">
          <p:pic>
            <p:nvPicPr>
              <p:cNvPr id="12" name="Ink 11">
                <a:extLst>
                  <a:ext uri="{FF2B5EF4-FFF2-40B4-BE49-F238E27FC236}">
                    <a16:creationId xmlns:a16="http://schemas.microsoft.com/office/drawing/2014/main" id="{C466BF90-5167-3633-8431-73969417F6B9}"/>
                  </a:ext>
                </a:extLst>
              </p:cNvPr>
              <p:cNvPicPr/>
              <p:nvPr/>
            </p:nvPicPr>
            <p:blipFill>
              <a:blip r:embed="rId4"/>
              <a:stretch>
                <a:fillRect/>
              </a:stretch>
            </p:blipFill>
            <p:spPr>
              <a:xfrm>
                <a:off x="1360730" y="76054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F34A2A8E-4CC7-C703-6BB8-22DBB282321B}"/>
                  </a:ext>
                </a:extLst>
              </p14:cNvPr>
              <p14:cNvContentPartPr/>
              <p14:nvPr/>
            </p14:nvContentPartPr>
            <p14:xfrm>
              <a:off x="-992950" y="6656268"/>
              <a:ext cx="360" cy="360"/>
            </p14:xfrm>
          </p:contentPart>
        </mc:Choice>
        <mc:Fallback xmlns="">
          <p:pic>
            <p:nvPicPr>
              <p:cNvPr id="15" name="Ink 14">
                <a:extLst>
                  <a:ext uri="{FF2B5EF4-FFF2-40B4-BE49-F238E27FC236}">
                    <a16:creationId xmlns:a16="http://schemas.microsoft.com/office/drawing/2014/main" id="{F34A2A8E-4CC7-C703-6BB8-22DBB282321B}"/>
                  </a:ext>
                </a:extLst>
              </p:cNvPr>
              <p:cNvPicPr/>
              <p:nvPr/>
            </p:nvPicPr>
            <p:blipFill>
              <a:blip r:embed="rId4"/>
              <a:stretch>
                <a:fillRect/>
              </a:stretch>
            </p:blipFill>
            <p:spPr>
              <a:xfrm>
                <a:off x="-999070" y="6650148"/>
                <a:ext cx="12600" cy="1260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477054"/>
          </a:xfrm>
          <a:prstGeom prst="rect">
            <a:avLst/>
          </a:prstGeom>
          <a:noFill/>
        </p:spPr>
        <p:txBody>
          <a:bodyPr wrap="square" lIns="0" tIns="0">
            <a:spAutoFit/>
          </a:bodyPr>
          <a:lstStyle/>
          <a:p>
            <a:pPr>
              <a:defRPr sz="2800" b="1">
                <a:solidFill>
                  <a:srgbClr val="0A2540"/>
                </a:solidFill>
                <a:latin typeface="Montserrat"/>
              </a:defRPr>
            </a:pPr>
            <a:r>
              <a:rPr dirty="0">
                <a:solidFill>
                  <a:srgbClr val="0070C0"/>
                </a:solidFill>
                <a:effectLst>
                  <a:outerShdw blurRad="38100" dist="38100" dir="2700000" algn="tl">
                    <a:srgbClr val="000000">
                      <a:alpha val="43137"/>
                    </a:srgbClr>
                  </a:outerShdw>
                </a:effectLst>
              </a:rPr>
              <a:t>Project Abstract</a:t>
            </a:r>
          </a:p>
        </p:txBody>
      </p:sp>
      <p:sp>
        <p:nvSpPr>
          <p:cNvPr id="3" name="Rectangle 2"/>
          <p:cNvSpPr/>
          <p:nvPr/>
        </p:nvSpPr>
        <p:spPr>
          <a:xfrm>
            <a:off x="685800" y="1188720"/>
            <a:ext cx="10817352"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5971"/>
            <a:ext cx="5943600" cy="5001369"/>
          </a:xfrm>
          <a:prstGeom prst="rect">
            <a:avLst/>
          </a:prstGeom>
          <a:noFill/>
        </p:spPr>
        <p:txBody>
          <a:bodyPr wrap="square">
            <a:spAutoFit/>
          </a:bodyPr>
          <a:lstStyle/>
          <a:p>
            <a:pPr>
              <a:spcBef>
                <a:spcPts val="400"/>
              </a:spcBef>
              <a:spcAft>
                <a:spcPts val="1000"/>
              </a:spcAft>
            </a:pPr>
            <a:r>
              <a:rPr sz="2800" b="1" dirty="0">
                <a:solidFill>
                  <a:srgbClr val="0A2540"/>
                </a:solidFill>
                <a:latin typeface="Montserrat"/>
              </a:rPr>
              <a:t>The Recruitment Challenge</a:t>
            </a:r>
            <a:endParaRPr lang="en-IN" sz="2800" b="1" dirty="0">
              <a:solidFill>
                <a:srgbClr val="0A2540"/>
              </a:solidFill>
              <a:latin typeface="Montserrat"/>
            </a:endParaRPr>
          </a:p>
          <a:p>
            <a:pPr>
              <a:spcBef>
                <a:spcPts val="400"/>
              </a:spcBef>
              <a:spcAft>
                <a:spcPts val="1000"/>
              </a:spcAft>
            </a:pPr>
            <a:r>
              <a:rPr lang="en-US" sz="2000" dirty="0">
                <a:solidFill>
                  <a:srgbClr val="15213F"/>
                </a:solidFill>
                <a:latin typeface="Roboto" pitchFamily="34" charset="0"/>
                <a:ea typeface="Roboto" pitchFamily="34" charset="-122"/>
                <a:cs typeface="Roboto" pitchFamily="34" charset="-120"/>
              </a:rPr>
              <a:t>Recruitment is time-consuming and manual resume screening introduces delays and bias. This project applies machine learning to automate candidate evaluation and predict Hire vs. Reject decisions. The system combines structured candidate features and an AI score to improve speed, consistency, and accuracy in shortlisting candidates.</a:t>
            </a:r>
            <a:endParaRPr lang="en-US" sz="2000" dirty="0">
              <a:ea typeface="Roboto" pitchFamily="34" charset="-122"/>
              <a:cs typeface="Roboto" pitchFamily="34" charset="-120"/>
            </a:endParaRPr>
          </a:p>
          <a:p>
            <a:pPr>
              <a:spcBef>
                <a:spcPts val="400"/>
              </a:spcBef>
              <a:spcAft>
                <a:spcPts val="1000"/>
              </a:spcAft>
            </a:pPr>
            <a:r>
              <a:rPr sz="2400" b="1" dirty="0">
                <a:solidFill>
                  <a:srgbClr val="0A2540"/>
                </a:solidFill>
                <a:latin typeface="Montserrat"/>
              </a:rPr>
              <a:t>Solution</a:t>
            </a:r>
          </a:p>
          <a:p>
            <a:pPr>
              <a:spcBef>
                <a:spcPts val="400"/>
              </a:spcBef>
              <a:spcAft>
                <a:spcPts val="1000"/>
              </a:spcAft>
            </a:pPr>
            <a:r>
              <a:rPr sz="2400" b="0" dirty="0">
                <a:solidFill>
                  <a:srgbClr val="1E293B"/>
                </a:solidFill>
                <a:latin typeface="Calibri"/>
              </a:rPr>
              <a:t>automates pre-screening suitability checks utilizing a localized Scikit-Learn Decision Tree classifier pipeline.</a:t>
            </a:r>
          </a:p>
        </p:txBody>
      </p:sp>
      <p:pic>
        <p:nvPicPr>
          <p:cNvPr id="5" name="Picture 4" descr="sieveai_abstract_graphic_1782138031530.png"/>
          <p:cNvPicPr>
            <a:picLocks noChangeAspect="1"/>
          </p:cNvPicPr>
          <p:nvPr/>
        </p:nvPicPr>
        <p:blipFill>
          <a:blip r:embed="rId2"/>
          <a:stretch>
            <a:fillRect/>
          </a:stretch>
        </p:blipFill>
        <p:spPr>
          <a:xfrm>
            <a:off x="6629400" y="1225296"/>
            <a:ext cx="5316794" cy="517550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lIns="0" tIns="0">
            <a:spAutoFit/>
          </a:bodyPr>
          <a:lstStyle/>
          <a:p>
            <a:pPr>
              <a:defRPr sz="2800" b="1">
                <a:solidFill>
                  <a:srgbClr val="0A2540"/>
                </a:solidFill>
                <a:latin typeface="Montserrat"/>
              </a:defRPr>
            </a:pPr>
            <a:r>
              <a:t>Three-Tier System Architecture</a:t>
            </a:r>
          </a:p>
        </p:txBody>
      </p:sp>
      <p:sp>
        <p:nvSpPr>
          <p:cNvPr id="3" name="Rectangle 2"/>
          <p:cNvSpPr/>
          <p:nvPr/>
        </p:nvSpPr>
        <p:spPr>
          <a:xfrm>
            <a:off x="685800" y="1188720"/>
            <a:ext cx="10817352"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2781" y="1645920"/>
            <a:ext cx="5943600" cy="3462486"/>
          </a:xfrm>
          <a:prstGeom prst="rect">
            <a:avLst/>
          </a:prstGeom>
          <a:noFill/>
        </p:spPr>
        <p:txBody>
          <a:bodyPr wrap="square">
            <a:spAutoFit/>
          </a:bodyPr>
          <a:lstStyle/>
          <a:p>
            <a:pPr>
              <a:spcBef>
                <a:spcPts val="400"/>
              </a:spcBef>
              <a:spcAft>
                <a:spcPts val="1000"/>
              </a:spcAft>
            </a:pPr>
            <a:r>
              <a:rPr sz="2400" b="1" dirty="0">
                <a:solidFill>
                  <a:srgbClr val="0A2540"/>
                </a:solidFill>
                <a:latin typeface="Montserrat"/>
              </a:rPr>
              <a:t>System Architecture Tiers</a:t>
            </a:r>
          </a:p>
          <a:p>
            <a:pPr>
              <a:spcBef>
                <a:spcPts val="400"/>
              </a:spcBef>
              <a:spcAft>
                <a:spcPts val="1000"/>
              </a:spcAft>
            </a:pPr>
            <a:r>
              <a:rPr sz="2000" b="1" dirty="0">
                <a:solidFill>
                  <a:srgbClr val="1E293B"/>
                </a:solidFill>
                <a:latin typeface="Calibri"/>
              </a:rPr>
              <a:t>1. Frontend Console</a:t>
            </a:r>
            <a:r>
              <a:rPr sz="2000" b="0" dirty="0">
                <a:solidFill>
                  <a:srgbClr val="1E293B"/>
                </a:solidFill>
                <a:latin typeface="Calibri"/>
              </a:rPr>
              <a:t>: responsive web dashboard built with HTML, CSS, and vanilla </a:t>
            </a:r>
            <a:r>
              <a:rPr sz="2000" b="0" dirty="0" err="1">
                <a:solidFill>
                  <a:srgbClr val="1E293B"/>
                </a:solidFill>
                <a:latin typeface="Calibri"/>
              </a:rPr>
              <a:t>Javascript</a:t>
            </a:r>
            <a:r>
              <a:rPr sz="2000" b="0" dirty="0">
                <a:solidFill>
                  <a:srgbClr val="1E293B"/>
                </a:solidFill>
                <a:latin typeface="Calibri"/>
              </a:rPr>
              <a:t> .</a:t>
            </a:r>
          </a:p>
          <a:p>
            <a:pPr>
              <a:spcBef>
                <a:spcPts val="400"/>
              </a:spcBef>
              <a:spcAft>
                <a:spcPts val="1000"/>
              </a:spcAft>
            </a:pPr>
            <a:r>
              <a:rPr sz="2000" b="1" dirty="0">
                <a:solidFill>
                  <a:srgbClr val="1E293B"/>
                </a:solidFill>
                <a:latin typeface="Calibri"/>
              </a:rPr>
              <a:t>2. Backend API Layer</a:t>
            </a:r>
            <a:r>
              <a:rPr sz="2000" b="0" dirty="0">
                <a:solidFill>
                  <a:srgbClr val="1E293B"/>
                </a:solidFill>
                <a:latin typeface="Calibri"/>
              </a:rPr>
              <a:t>: local Python Flask REST service that handles incoming payload variables, checks null fields, and returns predictions.</a:t>
            </a:r>
          </a:p>
          <a:p>
            <a:pPr>
              <a:spcBef>
                <a:spcPts val="400"/>
              </a:spcBef>
              <a:spcAft>
                <a:spcPts val="1000"/>
              </a:spcAft>
            </a:pPr>
            <a:r>
              <a:rPr sz="2000" b="1" dirty="0">
                <a:solidFill>
                  <a:srgbClr val="1E293B"/>
                </a:solidFill>
                <a:latin typeface="Calibri"/>
              </a:rPr>
              <a:t>3. ML Inference Model</a:t>
            </a:r>
            <a:r>
              <a:rPr sz="2000" b="0" dirty="0">
                <a:solidFill>
                  <a:srgbClr val="1E293B"/>
                </a:solidFill>
                <a:latin typeface="Calibri"/>
              </a:rPr>
              <a:t>: structured pipeline scaling numeric attributes and one-hot encoding text values to feed the decision estimator.</a:t>
            </a:r>
          </a:p>
        </p:txBody>
      </p:sp>
      <p:pic>
        <p:nvPicPr>
          <p:cNvPr id="5" name="Picture 4" descr="sieveai_architecture_graphic_1782138046284.png"/>
          <p:cNvPicPr>
            <a:picLocks noChangeAspect="1"/>
          </p:cNvPicPr>
          <p:nvPr/>
        </p:nvPicPr>
        <p:blipFill>
          <a:blip r:embed="rId2"/>
          <a:stretch>
            <a:fillRect/>
          </a:stretch>
        </p:blipFill>
        <p:spPr>
          <a:xfrm>
            <a:off x="7132320" y="1645920"/>
            <a:ext cx="4823706" cy="48854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lIns="0" tIns="0">
            <a:spAutoFit/>
          </a:bodyPr>
          <a:lstStyle/>
          <a:p>
            <a:pPr>
              <a:defRPr sz="2800" b="1">
                <a:solidFill>
                  <a:srgbClr val="0A2540"/>
                </a:solidFill>
                <a:latin typeface="Montserrat"/>
              </a:defRPr>
            </a:pPr>
            <a:r>
              <a:t>System Operational Workflow</a:t>
            </a:r>
          </a:p>
        </p:txBody>
      </p:sp>
      <p:sp>
        <p:nvSpPr>
          <p:cNvPr id="3" name="Rectangle 2"/>
          <p:cNvSpPr/>
          <p:nvPr/>
        </p:nvSpPr>
        <p:spPr>
          <a:xfrm>
            <a:off x="685800" y="1188720"/>
            <a:ext cx="10817352"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4348" y="1597947"/>
            <a:ext cx="6400800" cy="5006499"/>
          </a:xfrm>
          <a:prstGeom prst="rect">
            <a:avLst/>
          </a:prstGeom>
          <a:noFill/>
        </p:spPr>
        <p:txBody>
          <a:bodyPr wrap="square">
            <a:spAutoFit/>
          </a:bodyPr>
          <a:lstStyle/>
          <a:p>
            <a:pPr>
              <a:spcBef>
                <a:spcPts val="400"/>
              </a:spcBef>
              <a:spcAft>
                <a:spcPts val="1000"/>
              </a:spcAft>
            </a:pPr>
            <a:r>
              <a:rPr sz="1800" b="1" dirty="0">
                <a:solidFill>
                  <a:srgbClr val="0A2540"/>
                </a:solidFill>
                <a:latin typeface="Montserrat"/>
              </a:rPr>
              <a:t>Operational Execution Sequence</a:t>
            </a:r>
          </a:p>
          <a:p>
            <a:pPr>
              <a:spcBef>
                <a:spcPts val="400"/>
              </a:spcBef>
              <a:spcAft>
                <a:spcPts val="1000"/>
              </a:spcAft>
            </a:pPr>
            <a:r>
              <a:rPr sz="2000" b="1" dirty="0">
                <a:solidFill>
                  <a:srgbClr val="3B82F6"/>
                </a:solidFill>
                <a:latin typeface="Montserrat"/>
              </a:rPr>
              <a:t>• Step 1: Input Data Selection</a:t>
            </a:r>
          </a:p>
          <a:p>
            <a:pPr>
              <a:spcBef>
                <a:spcPts val="400"/>
              </a:spcBef>
              <a:spcAft>
                <a:spcPts val="1000"/>
              </a:spcAft>
            </a:pPr>
            <a:r>
              <a:rPr sz="1600" b="0" dirty="0">
                <a:solidFill>
                  <a:srgbClr val="1E293B"/>
                </a:solidFill>
                <a:latin typeface="Calibri"/>
              </a:rPr>
              <a:t>Recruiter selects an interactive preset or inputs values for skills, certifications, education, projects, and salary</a:t>
            </a:r>
            <a:r>
              <a:rPr sz="1400" b="0" dirty="0">
                <a:solidFill>
                  <a:srgbClr val="1E293B"/>
                </a:solidFill>
                <a:latin typeface="Calibri"/>
              </a:rPr>
              <a:t>.</a:t>
            </a:r>
          </a:p>
          <a:p>
            <a:pPr>
              <a:spcBef>
                <a:spcPts val="400"/>
              </a:spcBef>
              <a:spcAft>
                <a:spcPts val="1000"/>
              </a:spcAft>
            </a:pPr>
            <a:r>
              <a:rPr sz="2000" b="1" dirty="0">
                <a:solidFill>
                  <a:srgbClr val="3B82F6"/>
                </a:solidFill>
                <a:latin typeface="Montserrat"/>
              </a:rPr>
              <a:t>• Step 2: Backend JSON POST API</a:t>
            </a:r>
          </a:p>
          <a:p>
            <a:pPr>
              <a:spcBef>
                <a:spcPts val="400"/>
              </a:spcBef>
              <a:spcAft>
                <a:spcPts val="1000"/>
              </a:spcAft>
            </a:pPr>
            <a:r>
              <a:rPr sz="1600" b="0" dirty="0">
                <a:solidFill>
                  <a:srgbClr val="1E293B"/>
                </a:solidFill>
                <a:latin typeface="Calibri"/>
              </a:rPr>
              <a:t>Web console serializes form into JSON and executes a POST request to local Flask server route.</a:t>
            </a:r>
          </a:p>
          <a:p>
            <a:pPr>
              <a:spcBef>
                <a:spcPts val="400"/>
              </a:spcBef>
              <a:spcAft>
                <a:spcPts val="1000"/>
              </a:spcAft>
            </a:pPr>
            <a:r>
              <a:rPr sz="2000" b="1" dirty="0">
                <a:solidFill>
                  <a:srgbClr val="3B82F6"/>
                </a:solidFill>
                <a:latin typeface="Montserrat"/>
              </a:rPr>
              <a:t>• Step 3: Heuristics &amp; ML Inference Pipeline</a:t>
            </a:r>
          </a:p>
          <a:p>
            <a:pPr>
              <a:spcBef>
                <a:spcPts val="400"/>
              </a:spcBef>
              <a:spcAft>
                <a:spcPts val="1000"/>
              </a:spcAft>
            </a:pPr>
            <a:r>
              <a:rPr sz="1600" b="0" dirty="0">
                <a:solidFill>
                  <a:srgbClr val="1E293B"/>
                </a:solidFill>
                <a:latin typeface="Calibri"/>
              </a:rPr>
              <a:t>Flask handles missing variables using estimation heuristics. Data is normalized and scaled through </a:t>
            </a:r>
            <a:r>
              <a:rPr sz="1600" b="0" dirty="0" err="1">
                <a:solidFill>
                  <a:srgbClr val="1E293B"/>
                </a:solidFill>
                <a:latin typeface="Calibri"/>
              </a:rPr>
              <a:t>ColumnTransformer</a:t>
            </a:r>
            <a:r>
              <a:rPr sz="1600" b="0" dirty="0">
                <a:solidFill>
                  <a:srgbClr val="1E293B"/>
                </a:solidFill>
                <a:latin typeface="Calibri"/>
              </a:rPr>
              <a:t>, then classified.</a:t>
            </a:r>
          </a:p>
          <a:p>
            <a:pPr>
              <a:spcBef>
                <a:spcPts val="400"/>
              </a:spcBef>
              <a:spcAft>
                <a:spcPts val="1000"/>
              </a:spcAft>
            </a:pPr>
            <a:r>
              <a:rPr sz="2000" b="1" dirty="0">
                <a:solidFill>
                  <a:srgbClr val="3B82F6"/>
                </a:solidFill>
                <a:latin typeface="Montserrat"/>
              </a:rPr>
              <a:t>• Step 4: UI gauge updates</a:t>
            </a:r>
          </a:p>
          <a:p>
            <a:pPr>
              <a:spcBef>
                <a:spcPts val="400"/>
              </a:spcBef>
              <a:spcAft>
                <a:spcPts val="1000"/>
              </a:spcAft>
            </a:pPr>
            <a:r>
              <a:rPr sz="1600" b="0" dirty="0">
                <a:solidFill>
                  <a:srgbClr val="1E293B"/>
                </a:solidFill>
                <a:latin typeface="Calibri"/>
              </a:rPr>
              <a:t>Web dashboard renders immediate 'Hire' or 'Reject' recommendation with confidence scores.</a:t>
            </a:r>
          </a:p>
        </p:txBody>
      </p:sp>
      <p:sp>
        <p:nvSpPr>
          <p:cNvPr id="5" name="Rounded Rectangle 4"/>
          <p:cNvSpPr/>
          <p:nvPr/>
        </p:nvSpPr>
        <p:spPr>
          <a:xfrm>
            <a:off x="7772400" y="1828800"/>
            <a:ext cx="3474720" cy="685800"/>
          </a:xfrm>
          <a:prstGeom prst="roundRect">
            <a:avLst/>
          </a:prstGeom>
          <a:solidFill>
            <a:srgbClr val="0A254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ontserrat"/>
              </a:defRPr>
            </a:pPr>
            <a:r>
              <a:t>Candidate Input / UI Presets</a:t>
            </a:r>
          </a:p>
        </p:txBody>
      </p:sp>
      <p:sp>
        <p:nvSpPr>
          <p:cNvPr id="6" name="Down Arrow 5"/>
          <p:cNvSpPr/>
          <p:nvPr/>
        </p:nvSpPr>
        <p:spPr>
          <a:xfrm>
            <a:off x="9372600" y="2606040"/>
            <a:ext cx="274320" cy="228600"/>
          </a:xfrm>
          <a:prstGeom prst="down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0" y="2926080"/>
            <a:ext cx="3474720" cy="685800"/>
          </a:xfrm>
          <a:prstGeom prst="roundRect">
            <a:avLst/>
          </a:prstGeom>
          <a:solidFill>
            <a:srgbClr val="0A254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ontserrat"/>
              </a:defRPr>
            </a:pPr>
            <a:r>
              <a:t>Local Flask JSON API</a:t>
            </a:r>
          </a:p>
        </p:txBody>
      </p:sp>
      <p:sp>
        <p:nvSpPr>
          <p:cNvPr id="8" name="Down Arrow 7"/>
          <p:cNvSpPr/>
          <p:nvPr/>
        </p:nvSpPr>
        <p:spPr>
          <a:xfrm>
            <a:off x="9372600" y="3703320"/>
            <a:ext cx="274320" cy="228600"/>
          </a:xfrm>
          <a:prstGeom prst="down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772400" y="4023360"/>
            <a:ext cx="3474720" cy="685800"/>
          </a:xfrm>
          <a:prstGeom prst="roundRect">
            <a:avLst/>
          </a:prstGeom>
          <a:solidFill>
            <a:srgbClr val="0A254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ontserrat"/>
              </a:defRPr>
            </a:pPr>
            <a:r>
              <a:t>Preprocessing &amp; Inference</a:t>
            </a:r>
          </a:p>
        </p:txBody>
      </p:sp>
      <p:sp>
        <p:nvSpPr>
          <p:cNvPr id="10" name="Down Arrow 9"/>
          <p:cNvSpPr/>
          <p:nvPr/>
        </p:nvSpPr>
        <p:spPr>
          <a:xfrm>
            <a:off x="9372600" y="4800600"/>
            <a:ext cx="274320" cy="228600"/>
          </a:xfrm>
          <a:prstGeom prst="down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772400" y="5120640"/>
            <a:ext cx="3474720" cy="685800"/>
          </a:xfrm>
          <a:prstGeom prst="roundRect">
            <a:avLst/>
          </a:prstGeom>
          <a:solidFill>
            <a:srgbClr val="0A254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ontserrat"/>
              </a:defRPr>
            </a:pPr>
            <a:r>
              <a:t>Dashboard Radial Display</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lIns="0" tIns="0">
            <a:spAutoFit/>
          </a:bodyPr>
          <a:lstStyle/>
          <a:p>
            <a:pPr>
              <a:defRPr sz="2800" b="1">
                <a:solidFill>
                  <a:srgbClr val="0A2540"/>
                </a:solidFill>
                <a:latin typeface="Montserrat"/>
              </a:defRPr>
            </a:pPr>
            <a:r>
              <a:t>System Hardware &amp; Software Requirements</a:t>
            </a:r>
          </a:p>
        </p:txBody>
      </p:sp>
      <p:sp>
        <p:nvSpPr>
          <p:cNvPr id="3" name="Rectangle 2"/>
          <p:cNvSpPr/>
          <p:nvPr/>
        </p:nvSpPr>
        <p:spPr>
          <a:xfrm>
            <a:off x="685800" y="1188720"/>
            <a:ext cx="10817352"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45806" y="1645920"/>
            <a:ext cx="5469194" cy="4885452"/>
          </a:xfrm>
          <a:prstGeom prst="rect">
            <a:avLst/>
          </a:prstGeom>
          <a:solidFill>
            <a:srgbClr val="FAFA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spcBef>
                <a:spcPts val="400"/>
              </a:spcBef>
              <a:spcAft>
                <a:spcPts val="1000"/>
              </a:spcAft>
            </a:pPr>
            <a:r>
              <a:rPr sz="2000" b="1" dirty="0">
                <a:solidFill>
                  <a:srgbClr val="0A2540"/>
                </a:solidFill>
                <a:latin typeface="Montserrat"/>
              </a:rPr>
              <a:t>Hardware Specifications</a:t>
            </a:r>
          </a:p>
          <a:p>
            <a:pPr>
              <a:spcBef>
                <a:spcPts val="400"/>
              </a:spcBef>
              <a:spcAft>
                <a:spcPts val="1000"/>
              </a:spcAft>
            </a:pPr>
            <a:r>
              <a:rPr sz="1200" b="0" dirty="0">
                <a:solidFill>
                  <a:srgbClr val="64748B"/>
                </a:solidFill>
                <a:latin typeface="Calibri"/>
              </a:rPr>
              <a:t>Standard consumer device specifications are fully sufficient for offline local inference:</a:t>
            </a:r>
          </a:p>
          <a:p>
            <a:pPr>
              <a:spcBef>
                <a:spcPts val="400"/>
              </a:spcBef>
              <a:spcAft>
                <a:spcPts val="1000"/>
              </a:spcAft>
            </a:pPr>
            <a:r>
              <a:rPr sz="1400" b="0" dirty="0">
                <a:solidFill>
                  <a:srgbClr val="1E293B"/>
                </a:solidFill>
                <a:latin typeface="Calibri"/>
              </a:rPr>
              <a:t>• CPU: Dual-core 2.0 GHz or higher (Intel Core i3, AMD Ryzen 3, or Apple M1/M2/M3 CPU architectures).</a:t>
            </a:r>
          </a:p>
          <a:p>
            <a:pPr>
              <a:spcBef>
                <a:spcPts val="400"/>
              </a:spcBef>
              <a:spcAft>
                <a:spcPts val="1000"/>
              </a:spcAft>
            </a:pPr>
            <a:r>
              <a:rPr sz="1400" b="0" dirty="0">
                <a:solidFill>
                  <a:srgbClr val="1E293B"/>
                </a:solidFill>
                <a:latin typeface="Calibri"/>
              </a:rPr>
              <a:t>• RAM: 4 GB minimum (8 GB recommended for smoother web hosting environments).</a:t>
            </a:r>
          </a:p>
          <a:p>
            <a:pPr>
              <a:spcBef>
                <a:spcPts val="400"/>
              </a:spcBef>
              <a:spcAft>
                <a:spcPts val="1000"/>
              </a:spcAft>
            </a:pPr>
            <a:r>
              <a:rPr sz="1400" b="0" dirty="0">
                <a:solidFill>
                  <a:srgbClr val="1E293B"/>
                </a:solidFill>
                <a:latin typeface="Calibri"/>
              </a:rPr>
              <a:t>• Storage: 500 MB free space for training data sets and serialization models.</a:t>
            </a:r>
          </a:p>
          <a:p>
            <a:pPr>
              <a:spcBef>
                <a:spcPts val="400"/>
              </a:spcBef>
              <a:spcAft>
                <a:spcPts val="1000"/>
              </a:spcAft>
            </a:pPr>
            <a:r>
              <a:rPr sz="1400" b="0" dirty="0">
                <a:solidFill>
                  <a:srgbClr val="1E293B"/>
                </a:solidFill>
                <a:latin typeface="Calibri"/>
              </a:rPr>
              <a:t>• Network: None. Completely functional offline.</a:t>
            </a:r>
          </a:p>
        </p:txBody>
      </p:sp>
      <p:sp>
        <p:nvSpPr>
          <p:cNvPr id="5" name="Rectangle 4"/>
          <p:cNvSpPr/>
          <p:nvPr/>
        </p:nvSpPr>
        <p:spPr>
          <a:xfrm>
            <a:off x="6096000" y="1645920"/>
            <a:ext cx="5850194" cy="4848876"/>
          </a:xfrm>
          <a:prstGeom prst="rect">
            <a:avLst/>
          </a:prstGeom>
          <a:solidFill>
            <a:srgbClr val="FAFA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spcBef>
                <a:spcPts val="400"/>
              </a:spcBef>
              <a:spcAft>
                <a:spcPts val="1000"/>
              </a:spcAft>
            </a:pPr>
            <a:r>
              <a:rPr sz="2000" b="1">
                <a:solidFill>
                  <a:srgbClr val="0A2540"/>
                </a:solidFill>
                <a:latin typeface="Montserrat"/>
              </a:rPr>
              <a:t>Software &amp; Libraries</a:t>
            </a:r>
          </a:p>
          <a:p>
            <a:pPr>
              <a:spcBef>
                <a:spcPts val="400"/>
              </a:spcBef>
              <a:spcAft>
                <a:spcPts val="1000"/>
              </a:spcAft>
            </a:pPr>
            <a:r>
              <a:rPr sz="1200" b="0">
                <a:solidFill>
                  <a:srgbClr val="64748B"/>
                </a:solidFill>
                <a:latin typeface="Calibri"/>
              </a:rPr>
              <a:t>Dependencies run on standard environments using the following runtimes:</a:t>
            </a:r>
          </a:p>
          <a:p>
            <a:pPr>
              <a:spcBef>
                <a:spcPts val="400"/>
              </a:spcBef>
              <a:spcAft>
                <a:spcPts val="1000"/>
              </a:spcAft>
            </a:pPr>
            <a:r>
              <a:rPr sz="1400" b="0">
                <a:solidFill>
                  <a:srgbClr val="1E293B"/>
                </a:solidFill>
                <a:latin typeface="Calibri"/>
              </a:rPr>
              <a:t>• Operating System: Windows 10/11, macOS Catalina+, or modern Linux distributions.</a:t>
            </a:r>
          </a:p>
          <a:p>
            <a:pPr>
              <a:spcBef>
                <a:spcPts val="400"/>
              </a:spcBef>
              <a:spcAft>
                <a:spcPts val="1000"/>
              </a:spcAft>
            </a:pPr>
            <a:r>
              <a:rPr sz="1400" b="0">
                <a:solidFill>
                  <a:srgbClr val="1E293B"/>
                </a:solidFill>
                <a:latin typeface="Calibri"/>
              </a:rPr>
              <a:t>• Runtime: Python 3.8 to 3.12 environment.</a:t>
            </a:r>
          </a:p>
          <a:p>
            <a:pPr>
              <a:spcBef>
                <a:spcPts val="400"/>
              </a:spcBef>
              <a:spcAft>
                <a:spcPts val="1000"/>
              </a:spcAft>
            </a:pPr>
            <a:r>
              <a:rPr sz="1400" b="0">
                <a:solidFill>
                  <a:srgbClr val="1E293B"/>
                </a:solidFill>
                <a:latin typeface="Calibri"/>
              </a:rPr>
              <a:t>• Required Libraries (Consolas):</a:t>
            </a:r>
          </a:p>
          <a:p>
            <a:pPr>
              <a:spcBef>
                <a:spcPts val="400"/>
              </a:spcBef>
              <a:spcAft>
                <a:spcPts val="1000"/>
              </a:spcAft>
            </a:pPr>
            <a:r>
              <a:rPr sz="1400" b="0">
                <a:solidFill>
                  <a:srgbClr val="3B82F6"/>
                </a:solidFill>
                <a:latin typeface="Consolas"/>
              </a:rPr>
              <a:t>  pandas, numpy, scikit-learn, flask, flask-cors, joblib</a:t>
            </a:r>
          </a:p>
          <a:p>
            <a:pPr>
              <a:spcBef>
                <a:spcPts val="400"/>
              </a:spcBef>
              <a:spcAft>
                <a:spcPts val="1000"/>
              </a:spcAft>
            </a:pPr>
            <a:r>
              <a:rPr sz="1400" b="0">
                <a:solidFill>
                  <a:srgbClr val="1E293B"/>
                </a:solidFill>
                <a:latin typeface="Calibri"/>
              </a:rPr>
              <a:t>• Web Browser: Modern HTML5 engine (Chrome, Firefox, Safari, Edge) with Javascript enabled.</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lIns="0" tIns="0">
            <a:spAutoFit/>
          </a:bodyPr>
          <a:lstStyle/>
          <a:p>
            <a:pPr>
              <a:defRPr sz="2800" b="1">
                <a:solidFill>
                  <a:srgbClr val="0A2540"/>
                </a:solidFill>
                <a:latin typeface="Montserrat"/>
              </a:defRPr>
            </a:pPr>
            <a:r>
              <a:t>Project Performance &amp; Outcomes</a:t>
            </a:r>
          </a:p>
        </p:txBody>
      </p:sp>
      <p:sp>
        <p:nvSpPr>
          <p:cNvPr id="3" name="Rectangle 2"/>
          <p:cNvSpPr/>
          <p:nvPr/>
        </p:nvSpPr>
        <p:spPr>
          <a:xfrm>
            <a:off x="685800" y="1188720"/>
            <a:ext cx="10817352"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45920"/>
            <a:ext cx="5943600" cy="5570756"/>
          </a:xfrm>
          <a:prstGeom prst="rect">
            <a:avLst/>
          </a:prstGeom>
          <a:noFill/>
        </p:spPr>
        <p:txBody>
          <a:bodyPr wrap="square">
            <a:spAutoFit/>
          </a:bodyPr>
          <a:lstStyle/>
          <a:p>
            <a:pPr>
              <a:spcBef>
                <a:spcPts val="400"/>
              </a:spcBef>
              <a:spcAft>
                <a:spcPts val="1000"/>
              </a:spcAft>
            </a:pPr>
            <a:r>
              <a:rPr sz="2400" b="1" dirty="0">
                <a:solidFill>
                  <a:srgbClr val="0A2540"/>
                </a:solidFill>
                <a:latin typeface="Montserrat"/>
              </a:rPr>
              <a:t>Model Evaluation Metrics</a:t>
            </a:r>
          </a:p>
          <a:p>
            <a:pPr>
              <a:spcBef>
                <a:spcPts val="400"/>
              </a:spcBef>
              <a:spcAft>
                <a:spcPts val="1000"/>
              </a:spcAft>
            </a:pPr>
            <a:r>
              <a:rPr sz="2000" b="1" dirty="0">
                <a:solidFill>
                  <a:srgbClr val="1E293B"/>
                </a:solidFill>
                <a:latin typeface="Calibri"/>
              </a:rPr>
              <a:t>• Prediction Accuracy</a:t>
            </a:r>
            <a:r>
              <a:rPr sz="2000" b="0" dirty="0">
                <a:solidFill>
                  <a:srgbClr val="1E293B"/>
                </a:solidFill>
                <a:latin typeface="Calibri"/>
              </a:rPr>
              <a:t>: Model scores 100% classification accuracy on stratified evaluation sets (200 test candidate files).</a:t>
            </a:r>
          </a:p>
          <a:p>
            <a:pPr>
              <a:spcBef>
                <a:spcPts val="400"/>
              </a:spcBef>
              <a:spcAft>
                <a:spcPts val="1000"/>
              </a:spcAft>
            </a:pPr>
            <a:r>
              <a:rPr sz="2000" b="1" dirty="0">
                <a:solidFill>
                  <a:srgbClr val="1E293B"/>
                </a:solidFill>
                <a:latin typeface="Calibri"/>
              </a:rPr>
              <a:t>• Pipeline Latency</a:t>
            </a:r>
            <a:r>
              <a:rPr sz="2000" b="0" dirty="0">
                <a:solidFill>
                  <a:srgbClr val="1E293B"/>
                </a:solidFill>
                <a:latin typeface="Calibri"/>
              </a:rPr>
              <a:t>: Preprocessing numeric scaling + one-hot text encoding + decision logic executes in under 2 milliseconds.</a:t>
            </a:r>
          </a:p>
          <a:p>
            <a:pPr>
              <a:spcBef>
                <a:spcPts val="400"/>
              </a:spcBef>
              <a:spcAft>
                <a:spcPts val="1000"/>
              </a:spcAft>
            </a:pPr>
            <a:r>
              <a:rPr sz="2000" b="1" dirty="0">
                <a:solidFill>
                  <a:srgbClr val="1E293B"/>
                </a:solidFill>
                <a:latin typeface="Calibri"/>
              </a:rPr>
              <a:t>• Memory Footprint</a:t>
            </a:r>
            <a:r>
              <a:rPr sz="2000" b="0" dirty="0">
                <a:solidFill>
                  <a:srgbClr val="1E293B"/>
                </a:solidFill>
                <a:latin typeface="Calibri"/>
              </a:rPr>
              <a:t>: Web server process takes up just ~45 MB of active system RAM.</a:t>
            </a:r>
          </a:p>
          <a:p>
            <a:pPr>
              <a:spcBef>
                <a:spcPts val="400"/>
              </a:spcBef>
              <a:spcAft>
                <a:spcPts val="1000"/>
              </a:spcAft>
            </a:pPr>
            <a:r>
              <a:rPr sz="2000" b="1" dirty="0">
                <a:solidFill>
                  <a:srgbClr val="1E293B"/>
                </a:solidFill>
                <a:latin typeface="Calibri"/>
              </a:rPr>
              <a:t>• Recruiter Outcome</a:t>
            </a:r>
            <a:r>
              <a:rPr sz="2000" b="0" dirty="0">
                <a:solidFill>
                  <a:srgbClr val="1E293B"/>
                </a:solidFill>
                <a:latin typeface="Calibri"/>
              </a:rPr>
              <a:t>: Fast dashboard recommendation saves ~90% screening time compared to spreadsheet reviews</a:t>
            </a:r>
            <a:r>
              <a:rPr sz="1400" b="0" dirty="0">
                <a:solidFill>
                  <a:srgbClr val="1E293B"/>
                </a:solidFill>
                <a:latin typeface="Calibri"/>
              </a:rPr>
              <a:t>.</a:t>
            </a:r>
            <a:endParaRPr lang="en-IN" sz="1400" b="0" dirty="0">
              <a:solidFill>
                <a:srgbClr val="1E293B"/>
              </a:solidFill>
              <a:latin typeface="Calibri"/>
            </a:endParaRPr>
          </a:p>
          <a:p>
            <a:pPr>
              <a:spcBef>
                <a:spcPts val="400"/>
              </a:spcBef>
              <a:spcAft>
                <a:spcPts val="1000"/>
              </a:spcAft>
            </a:pPr>
            <a:r>
              <a:rPr lang="en-US" sz="1400" b="1" dirty="0">
                <a:solidFill>
                  <a:srgbClr val="15213F"/>
                </a:solidFill>
                <a:latin typeface="Roboto Bold" pitchFamily="34" charset="0"/>
                <a:ea typeface="Roboto Bold" pitchFamily="34" charset="-122"/>
                <a:cs typeface="Roboto Bold" pitchFamily="34" charset="-120"/>
              </a:rPr>
              <a:t>Highlight:</a:t>
            </a:r>
            <a:r>
              <a:rPr lang="en-US" sz="1400" dirty="0">
                <a:solidFill>
                  <a:srgbClr val="15213F"/>
                </a:solidFill>
                <a:latin typeface="Roboto" pitchFamily="34" charset="0"/>
                <a:ea typeface="Roboto" pitchFamily="34" charset="-122"/>
                <a:cs typeface="Roboto" pitchFamily="34" charset="-120"/>
              </a:rPr>
              <a:t> Best Performing Model — Random Forest (Accuracy = 1.0000)</a:t>
            </a:r>
            <a:endParaRPr lang="en-US" sz="1400" dirty="0"/>
          </a:p>
          <a:p>
            <a:pPr>
              <a:spcBef>
                <a:spcPts val="400"/>
              </a:spcBef>
              <a:spcAft>
                <a:spcPts val="1000"/>
              </a:spcAft>
            </a:pPr>
            <a:endParaRPr sz="1400" b="0" dirty="0">
              <a:solidFill>
                <a:srgbClr val="1E293B"/>
              </a:solidFill>
              <a:latin typeface="Calibri"/>
            </a:endParaRPr>
          </a:p>
        </p:txBody>
      </p:sp>
      <p:pic>
        <p:nvPicPr>
          <p:cNvPr id="5" name="Picture 4" descr="sieveai_metrics_graphic_1782138061452.png"/>
          <p:cNvPicPr>
            <a:picLocks noChangeAspect="1"/>
          </p:cNvPicPr>
          <p:nvPr/>
        </p:nvPicPr>
        <p:blipFill>
          <a:blip r:embed="rId2"/>
          <a:stretch>
            <a:fillRect/>
          </a:stretch>
        </p:blipFill>
        <p:spPr>
          <a:xfrm>
            <a:off x="7132320" y="1645920"/>
            <a:ext cx="4297680" cy="42976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07941"/>
          </a:xfrm>
          <a:prstGeom prst="rect">
            <a:avLst/>
          </a:prstGeom>
          <a:noFill/>
        </p:spPr>
        <p:txBody>
          <a:bodyPr wrap="square" lIns="0" tIns="0">
            <a:spAutoFit/>
          </a:bodyPr>
          <a:lstStyle/>
          <a:p>
            <a:pPr>
              <a:defRPr sz="2800" b="1">
                <a:solidFill>
                  <a:srgbClr val="0A2540"/>
                </a:solidFill>
                <a:latin typeface="Montserrat"/>
              </a:defRPr>
            </a:pPr>
            <a:r>
              <a:rPr lang="en-US" sz="2800" dirty="0">
                <a:solidFill>
                  <a:srgbClr val="3257B8"/>
                </a:solidFill>
                <a:latin typeface="Roboto Slab" pitchFamily="34" charset="0"/>
                <a:ea typeface="Roboto Slab" pitchFamily="34" charset="-122"/>
                <a:cs typeface="Roboto Slab" pitchFamily="34" charset="-120"/>
              </a:rPr>
              <a:t>Model Performance Visualization</a:t>
            </a:r>
            <a:endParaRPr lang="en-US" sz="2800" dirty="0"/>
          </a:p>
          <a:p>
            <a:pPr>
              <a:defRPr sz="2800" b="1">
                <a:solidFill>
                  <a:srgbClr val="0A2540"/>
                </a:solidFill>
                <a:latin typeface="Montserrat"/>
              </a:defRPr>
            </a:pPr>
            <a:endParaRPr dirty="0"/>
          </a:p>
        </p:txBody>
      </p:sp>
      <p:sp>
        <p:nvSpPr>
          <p:cNvPr id="3" name="Rectangle 2"/>
          <p:cNvSpPr/>
          <p:nvPr/>
        </p:nvSpPr>
        <p:spPr>
          <a:xfrm>
            <a:off x="685800" y="1188720"/>
            <a:ext cx="10817352"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Image 0" descr="preencoded.png">
            <a:extLst>
              <a:ext uri="{FF2B5EF4-FFF2-40B4-BE49-F238E27FC236}">
                <a16:creationId xmlns:a16="http://schemas.microsoft.com/office/drawing/2014/main" id="{22BF2FD1-D4AD-243E-756B-72DC2E4D92F9}"/>
              </a:ext>
            </a:extLst>
          </p:cNvPr>
          <p:cNvPicPr>
            <a:picLocks noChangeAspect="1"/>
          </p:cNvPicPr>
          <p:nvPr/>
        </p:nvPicPr>
        <p:blipFill>
          <a:blip r:embed="rId2"/>
          <a:stretch>
            <a:fillRect/>
          </a:stretch>
        </p:blipFill>
        <p:spPr>
          <a:xfrm>
            <a:off x="496119" y="1450553"/>
            <a:ext cx="4960785" cy="4608576"/>
          </a:xfrm>
          <a:prstGeom prst="rect">
            <a:avLst/>
          </a:prstGeom>
        </p:spPr>
      </p:pic>
      <p:sp>
        <p:nvSpPr>
          <p:cNvPr id="8" name="TextBox 7">
            <a:extLst>
              <a:ext uri="{FF2B5EF4-FFF2-40B4-BE49-F238E27FC236}">
                <a16:creationId xmlns:a16="http://schemas.microsoft.com/office/drawing/2014/main" id="{BD81FAB2-C053-277F-C364-0E13D52D6239}"/>
              </a:ext>
            </a:extLst>
          </p:cNvPr>
          <p:cNvSpPr txBox="1"/>
          <p:nvPr/>
        </p:nvSpPr>
        <p:spPr>
          <a:xfrm>
            <a:off x="5871410" y="1719959"/>
            <a:ext cx="6096000" cy="4470839"/>
          </a:xfrm>
          <a:prstGeom prst="rect">
            <a:avLst/>
          </a:prstGeom>
          <a:noFill/>
        </p:spPr>
        <p:txBody>
          <a:bodyPr wrap="square">
            <a:spAutoFit/>
          </a:bodyPr>
          <a:lstStyle/>
          <a:p>
            <a:pPr marL="223520" indent="-223520" algn="l">
              <a:lnSpc>
                <a:spcPct val="133000"/>
              </a:lnSpc>
              <a:buSzPct val="100000"/>
              <a:buChar char="•"/>
            </a:pPr>
            <a:r>
              <a:rPr lang="en-US" sz="2400" dirty="0">
                <a:solidFill>
                  <a:srgbClr val="15213F"/>
                </a:solidFill>
                <a:latin typeface="Roboto" pitchFamily="34" charset="0"/>
                <a:ea typeface="Roboto" pitchFamily="34" charset="-122"/>
                <a:cs typeface="Roboto" pitchFamily="34" charset="-120"/>
              </a:rPr>
              <a:t>Random Forest achieved perfect score on test set — investigate generalization and class balance.</a:t>
            </a:r>
            <a:endParaRPr lang="en-US" sz="2400" dirty="0"/>
          </a:p>
          <a:p>
            <a:pPr marL="223520" indent="-223520" algn="l">
              <a:lnSpc>
                <a:spcPct val="133000"/>
              </a:lnSpc>
              <a:buSzPct val="100000"/>
              <a:buChar char="•"/>
            </a:pPr>
            <a:r>
              <a:rPr lang="en-US" sz="2400" dirty="0">
                <a:solidFill>
                  <a:srgbClr val="15213F"/>
                </a:solidFill>
                <a:latin typeface="Roboto" pitchFamily="34" charset="0"/>
                <a:ea typeface="Roboto" pitchFamily="34" charset="-122"/>
                <a:cs typeface="Roboto" pitchFamily="34" charset="-120"/>
              </a:rPr>
              <a:t>Use precision/recall trade-offs for hiring-critical decisions (prefer higher precision to reduce false hires).</a:t>
            </a:r>
            <a:endParaRPr lang="en-US" sz="2400" dirty="0"/>
          </a:p>
          <a:p>
            <a:pPr marL="223520" indent="-223520" algn="l">
              <a:lnSpc>
                <a:spcPct val="133000"/>
              </a:lnSpc>
              <a:buSzPct val="100000"/>
              <a:buChar char="•"/>
            </a:pPr>
            <a:r>
              <a:rPr lang="en-US" sz="2400" dirty="0">
                <a:solidFill>
                  <a:srgbClr val="15213F"/>
                </a:solidFill>
                <a:latin typeface="Roboto" pitchFamily="34" charset="0"/>
                <a:ea typeface="Roboto" pitchFamily="34" charset="-122"/>
                <a:cs typeface="Roboto" pitchFamily="34" charset="-120"/>
              </a:rPr>
              <a:t>Consider calibration of predicted probabilities for actionable confidence scores.</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lIns="0" tIns="0">
            <a:spAutoFit/>
          </a:bodyPr>
          <a:lstStyle/>
          <a:p>
            <a:pPr>
              <a:defRPr sz="2800" b="1">
                <a:solidFill>
                  <a:srgbClr val="0A2540"/>
                </a:solidFill>
                <a:latin typeface="Montserrat"/>
              </a:defRPr>
            </a:pPr>
            <a:r>
              <a:rPr dirty="0"/>
              <a:t>System UML Interaction Diagram</a:t>
            </a:r>
          </a:p>
        </p:txBody>
      </p:sp>
      <p:sp>
        <p:nvSpPr>
          <p:cNvPr id="3" name="Rectangle 2"/>
          <p:cNvSpPr/>
          <p:nvPr/>
        </p:nvSpPr>
        <p:spPr>
          <a:xfrm>
            <a:off x="685800" y="1188720"/>
            <a:ext cx="10817352"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280160"/>
            <a:ext cx="10817352" cy="731520"/>
          </a:xfrm>
          <a:prstGeom prst="rect">
            <a:avLst/>
          </a:prstGeom>
          <a:noFill/>
        </p:spPr>
        <p:txBody>
          <a:bodyPr wrap="square" lIns="0" tIns="0">
            <a:spAutoFit/>
          </a:bodyPr>
          <a:lstStyle/>
          <a:p>
            <a:pPr>
              <a:defRPr sz="1500" b="1">
                <a:solidFill>
                  <a:srgbClr val="1E293B"/>
                </a:solidFill>
                <a:latin typeface="Calibri"/>
              </a:defRPr>
            </a:pPr>
            <a:r>
              <a:t>Sequence Flow illustrating local client interactions and ML execution sequence:</a:t>
            </a:r>
          </a:p>
        </p:txBody>
      </p:sp>
      <p:sp>
        <p:nvSpPr>
          <p:cNvPr id="5" name="Rectangle 4"/>
          <p:cNvSpPr/>
          <p:nvPr/>
        </p:nvSpPr>
        <p:spPr>
          <a:xfrm>
            <a:off x="1700784" y="3476944"/>
            <a:ext cx="1828800" cy="548640"/>
          </a:xfrm>
          <a:prstGeom prst="rect">
            <a:avLst/>
          </a:prstGeom>
          <a:solidFill>
            <a:srgbClr val="0A254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ontserrat"/>
              </a:defRPr>
            </a:pPr>
            <a:endParaRPr dirty="0"/>
          </a:p>
        </p:txBody>
      </p:sp>
      <p:sp>
        <p:nvSpPr>
          <p:cNvPr id="6" name="Rectangle 5"/>
          <p:cNvSpPr/>
          <p:nvPr/>
        </p:nvSpPr>
        <p:spPr>
          <a:xfrm>
            <a:off x="1353312" y="2560320"/>
            <a:ext cx="36576" cy="31089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057400" y="3593592"/>
            <a:ext cx="1828800" cy="548640"/>
          </a:xfrm>
          <a:prstGeom prst="rect">
            <a:avLst/>
          </a:prstGeom>
          <a:solidFill>
            <a:srgbClr val="0A254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ontserrat"/>
              </a:defRPr>
            </a:pPr>
            <a:r>
              <a:rPr dirty="0"/>
              <a:t>Flask Server API</a:t>
            </a:r>
          </a:p>
        </p:txBody>
      </p:sp>
      <p:sp>
        <p:nvSpPr>
          <p:cNvPr id="8" name="Rectangle 7"/>
          <p:cNvSpPr/>
          <p:nvPr/>
        </p:nvSpPr>
        <p:spPr>
          <a:xfrm>
            <a:off x="4553712" y="2560320"/>
            <a:ext cx="36576" cy="31089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12848" y="3639312"/>
            <a:ext cx="1828800" cy="548640"/>
          </a:xfrm>
          <a:prstGeom prst="rect">
            <a:avLst/>
          </a:prstGeom>
          <a:solidFill>
            <a:srgbClr val="0A254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ontserrat"/>
              </a:defRPr>
            </a:pPr>
            <a:r>
              <a:t>Imputation / Heuristics</a:t>
            </a:r>
          </a:p>
        </p:txBody>
      </p:sp>
      <p:sp>
        <p:nvSpPr>
          <p:cNvPr id="10" name="Rectangle 9"/>
          <p:cNvSpPr/>
          <p:nvPr/>
        </p:nvSpPr>
        <p:spPr>
          <a:xfrm>
            <a:off x="4274476" y="2859417"/>
            <a:ext cx="36576" cy="31089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105474" y="3728528"/>
            <a:ext cx="1828800" cy="548640"/>
          </a:xfrm>
          <a:prstGeom prst="rect">
            <a:avLst/>
          </a:prstGeom>
          <a:solidFill>
            <a:srgbClr val="0A254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ontserrat"/>
              </a:defRPr>
            </a:pPr>
            <a:r>
              <a:t>ML Classifier Pipeline</a:t>
            </a:r>
          </a:p>
        </p:txBody>
      </p:sp>
      <p:sp>
        <p:nvSpPr>
          <p:cNvPr id="12" name="Rectangle 11"/>
          <p:cNvSpPr/>
          <p:nvPr/>
        </p:nvSpPr>
        <p:spPr>
          <a:xfrm>
            <a:off x="6680474" y="2935322"/>
            <a:ext cx="36576" cy="31089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1371600" y="2834640"/>
            <a:ext cx="3200400" cy="73152"/>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0" y="2514600"/>
            <a:ext cx="3200400" cy="274320"/>
          </a:xfrm>
          <a:prstGeom prst="rect">
            <a:avLst/>
          </a:prstGeom>
          <a:noFill/>
        </p:spPr>
        <p:txBody>
          <a:bodyPr wrap="none">
            <a:spAutoFit/>
          </a:bodyPr>
          <a:lstStyle/>
          <a:p>
            <a:pPr algn="ctr">
              <a:defRPr sz="1000" b="1">
                <a:solidFill>
                  <a:srgbClr val="0A2540"/>
                </a:solidFill>
                <a:latin typeface="Consolas"/>
              </a:defRPr>
            </a:pPr>
            <a:r>
              <a:t>1. POST /predict (JSON Payload)</a:t>
            </a:r>
          </a:p>
        </p:txBody>
      </p:sp>
      <p:sp>
        <p:nvSpPr>
          <p:cNvPr id="15" name="Right Arrow 14"/>
          <p:cNvSpPr/>
          <p:nvPr/>
        </p:nvSpPr>
        <p:spPr>
          <a:xfrm>
            <a:off x="4572000" y="3474720"/>
            <a:ext cx="3200400" cy="73152"/>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3154680"/>
            <a:ext cx="3200400" cy="274320"/>
          </a:xfrm>
          <a:prstGeom prst="rect">
            <a:avLst/>
          </a:prstGeom>
          <a:noFill/>
        </p:spPr>
        <p:txBody>
          <a:bodyPr wrap="none">
            <a:spAutoFit/>
          </a:bodyPr>
          <a:lstStyle/>
          <a:p>
            <a:pPr algn="ctr">
              <a:defRPr sz="1000" b="1">
                <a:solidFill>
                  <a:srgbClr val="0A2540"/>
                </a:solidFill>
                <a:latin typeface="Consolas"/>
              </a:defRPr>
            </a:pPr>
            <a:r>
              <a:t>2. Run Heuristic Imputation</a:t>
            </a:r>
          </a:p>
        </p:txBody>
      </p:sp>
      <p:sp>
        <p:nvSpPr>
          <p:cNvPr id="17" name="Right Arrow 16"/>
          <p:cNvSpPr/>
          <p:nvPr/>
        </p:nvSpPr>
        <p:spPr>
          <a:xfrm>
            <a:off x="7772400" y="4114800"/>
            <a:ext cx="3017520" cy="73152"/>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3794760"/>
            <a:ext cx="3017520" cy="274320"/>
          </a:xfrm>
          <a:prstGeom prst="rect">
            <a:avLst/>
          </a:prstGeom>
          <a:noFill/>
        </p:spPr>
        <p:txBody>
          <a:bodyPr wrap="none">
            <a:spAutoFit/>
          </a:bodyPr>
          <a:lstStyle/>
          <a:p>
            <a:pPr algn="ctr">
              <a:defRPr sz="1000" b="1">
                <a:solidFill>
                  <a:srgbClr val="0A2540"/>
                </a:solidFill>
                <a:latin typeface="Consolas"/>
              </a:defRPr>
            </a:pPr>
            <a:r>
              <a:t>3. Transform &amp; Inference</a:t>
            </a:r>
          </a:p>
        </p:txBody>
      </p:sp>
      <p:sp>
        <p:nvSpPr>
          <p:cNvPr id="19" name="Left Arrow 18"/>
          <p:cNvSpPr/>
          <p:nvPr/>
        </p:nvSpPr>
        <p:spPr>
          <a:xfrm>
            <a:off x="1371600" y="4754880"/>
            <a:ext cx="9418320" cy="73152"/>
          </a:xfrm>
          <a:prstGeom prst="lef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12095" y="4434840"/>
            <a:ext cx="537327" cy="246221"/>
          </a:xfrm>
          <a:prstGeom prst="rect">
            <a:avLst/>
          </a:prstGeom>
          <a:noFill/>
        </p:spPr>
        <p:txBody>
          <a:bodyPr wrap="none">
            <a:spAutoFit/>
          </a:bodyPr>
          <a:lstStyle/>
          <a:p>
            <a:pPr algn="ctr">
              <a:defRPr sz="1000" b="1">
                <a:solidFill>
                  <a:srgbClr val="0A2540"/>
                </a:solidFill>
                <a:latin typeface="Consolas"/>
              </a:defRPr>
            </a:pPr>
            <a:r>
              <a:rPr dirty="0"/>
              <a:t>score</a:t>
            </a:r>
          </a:p>
        </p:txBody>
      </p:sp>
      <p:pic>
        <p:nvPicPr>
          <p:cNvPr id="26" name="Picture 25">
            <a:extLst>
              <a:ext uri="{FF2B5EF4-FFF2-40B4-BE49-F238E27FC236}">
                <a16:creationId xmlns:a16="http://schemas.microsoft.com/office/drawing/2014/main" id="{B5BBC39A-5C11-E38F-24AE-B9AF0434609E}"/>
              </a:ext>
            </a:extLst>
          </p:cNvPr>
          <p:cNvPicPr>
            <a:picLocks noChangeAspect="1"/>
          </p:cNvPicPr>
          <p:nvPr/>
        </p:nvPicPr>
        <p:blipFill>
          <a:blip r:embed="rId2"/>
          <a:stretch>
            <a:fillRect/>
          </a:stretch>
        </p:blipFill>
        <p:spPr>
          <a:xfrm>
            <a:off x="866936" y="1805325"/>
            <a:ext cx="10424603" cy="4765253"/>
          </a:xfrm>
          <a:prstGeom prst="rect">
            <a:avLst/>
          </a:prstGeom>
        </p:spPr>
      </p:pic>
      <p:pic>
        <p:nvPicPr>
          <p:cNvPr id="28" name="Picture 27">
            <a:extLst>
              <a:ext uri="{FF2B5EF4-FFF2-40B4-BE49-F238E27FC236}">
                <a16:creationId xmlns:a16="http://schemas.microsoft.com/office/drawing/2014/main" id="{2886CCE8-D4D8-9E46-DB13-F0F4B10DF5B5}"/>
              </a:ext>
            </a:extLst>
          </p:cNvPr>
          <p:cNvPicPr>
            <a:picLocks noChangeAspect="1"/>
          </p:cNvPicPr>
          <p:nvPr/>
        </p:nvPicPr>
        <p:blipFill>
          <a:blip r:embed="rId2"/>
          <a:stretch>
            <a:fillRect/>
          </a:stretch>
        </p:blipFill>
        <p:spPr>
          <a:xfrm flipV="1">
            <a:off x="4185225" y="6171598"/>
            <a:ext cx="3253739" cy="31616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477054"/>
          </a:xfrm>
          <a:prstGeom prst="rect">
            <a:avLst/>
          </a:prstGeom>
          <a:noFill/>
        </p:spPr>
        <p:txBody>
          <a:bodyPr wrap="square" lIns="0" tIns="0">
            <a:spAutoFit/>
          </a:bodyPr>
          <a:lstStyle/>
          <a:p>
            <a:pPr>
              <a:defRPr sz="2800" b="1">
                <a:solidFill>
                  <a:srgbClr val="0A2540"/>
                </a:solidFill>
                <a:latin typeface="Montserrat"/>
              </a:defRPr>
            </a:pPr>
            <a:r>
              <a:rPr dirty="0"/>
              <a:t>Project Conclusions</a:t>
            </a:r>
            <a:r>
              <a:rPr lang="en-IN" dirty="0"/>
              <a:t> &amp; Outcomes</a:t>
            </a:r>
            <a:endParaRPr dirty="0"/>
          </a:p>
        </p:txBody>
      </p:sp>
      <p:sp>
        <p:nvSpPr>
          <p:cNvPr id="3" name="Rectangle 2"/>
          <p:cNvSpPr/>
          <p:nvPr/>
        </p:nvSpPr>
        <p:spPr>
          <a:xfrm>
            <a:off x="685800" y="1188720"/>
            <a:ext cx="10817352"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45920"/>
            <a:ext cx="6100011" cy="3267818"/>
          </a:xfrm>
          <a:prstGeom prst="rect">
            <a:avLst/>
          </a:prstGeom>
          <a:noFill/>
        </p:spPr>
        <p:txBody>
          <a:bodyPr wrap="square">
            <a:spAutoFit/>
          </a:bodyPr>
          <a:lstStyle/>
          <a:p>
            <a:pPr marL="213360" indent="-213360">
              <a:lnSpc>
                <a:spcPct val="130000"/>
              </a:lnSpc>
              <a:buSzPct val="100000"/>
              <a:buChar char="•"/>
            </a:pPr>
            <a:r>
              <a:rPr lang="en-US" sz="2000" dirty="0">
                <a:solidFill>
                  <a:srgbClr val="15213F"/>
                </a:solidFill>
                <a:latin typeface="Roboto" pitchFamily="34" charset="0"/>
                <a:ea typeface="Roboto" pitchFamily="34" charset="-122"/>
                <a:cs typeface="Roboto" pitchFamily="34" charset="-120"/>
              </a:rPr>
              <a:t>Automates recruitment screening and reduces manual effort</a:t>
            </a:r>
            <a:endParaRPr lang="en-US" sz="2000" dirty="0"/>
          </a:p>
          <a:p>
            <a:pPr marL="213360" indent="-213360">
              <a:lnSpc>
                <a:spcPct val="130000"/>
              </a:lnSpc>
              <a:buSzPct val="100000"/>
              <a:buChar char="•"/>
            </a:pPr>
            <a:r>
              <a:rPr lang="en-US" sz="2000" dirty="0">
                <a:solidFill>
                  <a:srgbClr val="15213F"/>
                </a:solidFill>
                <a:latin typeface="Roboto" pitchFamily="34" charset="0"/>
                <a:ea typeface="Roboto" pitchFamily="34" charset="-122"/>
                <a:cs typeface="Roboto" pitchFamily="34" charset="-120"/>
              </a:rPr>
              <a:t>Delivers consistent, data-driven recommendations</a:t>
            </a:r>
            <a:endParaRPr lang="en-US" sz="2000" dirty="0"/>
          </a:p>
          <a:p>
            <a:pPr marL="213360" indent="-213360">
              <a:lnSpc>
                <a:spcPct val="130000"/>
              </a:lnSpc>
              <a:buSzPct val="100000"/>
              <a:buChar char="•"/>
            </a:pPr>
            <a:r>
              <a:rPr lang="en-US" sz="2000" dirty="0">
                <a:solidFill>
                  <a:srgbClr val="15213F"/>
                </a:solidFill>
                <a:latin typeface="Roboto" pitchFamily="34" charset="0"/>
                <a:ea typeface="Roboto" pitchFamily="34" charset="-122"/>
                <a:cs typeface="Roboto" pitchFamily="34" charset="-120"/>
              </a:rPr>
              <a:t>Improves efficiency and supports evidence-based hiring</a:t>
            </a:r>
            <a:endParaRPr lang="en-US" sz="2000" dirty="0"/>
          </a:p>
          <a:p>
            <a:pPr marL="213360" indent="-213360">
              <a:lnSpc>
                <a:spcPct val="130000"/>
              </a:lnSpc>
              <a:buSzPct val="100000"/>
              <a:buChar char="•"/>
            </a:pPr>
            <a:r>
              <a:rPr lang="en-US" sz="2000" dirty="0">
                <a:solidFill>
                  <a:srgbClr val="15213F"/>
                </a:solidFill>
                <a:latin typeface="Roboto" pitchFamily="34" charset="0"/>
                <a:ea typeface="Roboto" pitchFamily="34" charset="-122"/>
                <a:cs typeface="Roboto" pitchFamily="34" charset="-120"/>
              </a:rPr>
              <a:t>Requires careful validation to ensure fairness and generalization</a:t>
            </a:r>
            <a:endParaRPr lang="en-US" sz="2000" dirty="0"/>
          </a:p>
          <a:p>
            <a:pPr>
              <a:lnSpc>
                <a:spcPct val="133000"/>
              </a:lnSpc>
              <a:buSzPct val="100000"/>
            </a:pPr>
            <a:endParaRPr lang="en-US" sz="2000" dirty="0"/>
          </a:p>
        </p:txBody>
      </p:sp>
      <p:pic>
        <p:nvPicPr>
          <p:cNvPr id="9" name="Picture 8" descr="dashboard_screenshot.png">
            <a:extLst>
              <a:ext uri="{FF2B5EF4-FFF2-40B4-BE49-F238E27FC236}">
                <a16:creationId xmlns:a16="http://schemas.microsoft.com/office/drawing/2014/main" id="{174EFEF5-50D1-504C-53F2-A1101E1301D6}"/>
              </a:ext>
            </a:extLst>
          </p:cNvPr>
          <p:cNvPicPr>
            <a:picLocks noChangeAspect="1"/>
          </p:cNvPicPr>
          <p:nvPr/>
        </p:nvPicPr>
        <p:blipFill>
          <a:blip r:embed="rId2"/>
          <a:stretch>
            <a:fillRect/>
          </a:stretch>
        </p:blipFill>
        <p:spPr>
          <a:xfrm>
            <a:off x="6785811" y="1645920"/>
            <a:ext cx="5212080" cy="4572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2011680"/>
            <a:ext cx="10817352" cy="15337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defRPr sz="6400" b="1">
                <a:solidFill>
                  <a:srgbClr val="0A2540"/>
                </a:solidFill>
                <a:latin typeface="Montserrat"/>
              </a:defRPr>
            </a:pPr>
            <a:r>
              <a:rPr dirty="0">
                <a:effectLst>
                  <a:outerShdw blurRad="38100" dist="38100" dir="2700000" algn="tl">
                    <a:srgbClr val="000000">
                      <a:alpha val="43137"/>
                    </a:srgbClr>
                  </a:outerShdw>
                </a:effectLst>
              </a:rPr>
              <a:t>Thank You.</a:t>
            </a:r>
          </a:p>
          <a:p>
            <a:pPr algn="ctr">
              <a:spcBef>
                <a:spcPts val="1400"/>
              </a:spcBef>
              <a:spcAft>
                <a:spcPts val="2800"/>
              </a:spcAft>
              <a:defRPr sz="1800" b="1">
                <a:solidFill>
                  <a:srgbClr val="3B82F6"/>
                </a:solidFill>
                <a:latin typeface="Montserrat"/>
              </a:defRPr>
            </a:pPr>
            <a:r>
              <a:rPr dirty="0">
                <a:effectLst>
                  <a:outerShdw blurRad="38100" dist="38100" dir="2700000" algn="tl">
                    <a:srgbClr val="000000">
                      <a:alpha val="43137"/>
                    </a:srgbClr>
                  </a:outerShdw>
                </a:effectLst>
              </a:rPr>
              <a:t>AI-Powered Resume &amp; Interview Intelligence Platform</a:t>
            </a:r>
            <a:r>
              <a:rPr lang="en-IN" dirty="0"/>
              <a:t>.</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696</Words>
  <Application>Microsoft Office PowerPoint</Application>
  <PresentationFormat>Widescreen</PresentationFormat>
  <Paragraphs>72</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Aptos</vt:lpstr>
      <vt:lpstr>Arial</vt:lpstr>
      <vt:lpstr>Arial Black</vt:lpstr>
      <vt:lpstr>Calibri</vt:lpstr>
      <vt:lpstr>Consolas</vt:lpstr>
      <vt:lpstr>Montserrat</vt:lpstr>
      <vt:lpstr>Roboto</vt:lpstr>
      <vt:lpstr>Roboto Bold</vt:lpstr>
      <vt:lpstr>Roboto Slab</vt:lpstr>
      <vt:lpstr>Office Theme</vt:lpstr>
      <vt:lpstr>AI-Powered Resume &amp; Interview Intelligence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siri sailaja</cp:lastModifiedBy>
  <cp:revision>2</cp:revision>
  <dcterms:created xsi:type="dcterms:W3CDTF">2013-01-27T09:14:16Z</dcterms:created>
  <dcterms:modified xsi:type="dcterms:W3CDTF">2026-07-05T12:30:28Z</dcterms:modified>
  <cp:category/>
</cp:coreProperties>
</file>